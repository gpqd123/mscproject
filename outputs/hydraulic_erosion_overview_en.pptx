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d9e10521744000" /><Relationship Type="http://schemas.openxmlformats.org/officeDocument/2006/relationships/extended-properties" Target="/docProps/app.xml" Id="R994c1a228fda4920" /><Relationship Type="http://schemas.openxmlformats.org/officeDocument/2006/relationships/officeDocument" Target="/ppt/presentation.xml" Id="R46e50a68e8d941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3bcf1104b449a0"/>
  </p:sldMasterIdLst>
  <p:notesMasterIdLst>
    <p:notesMasterId xmlns:r="http://schemas.openxmlformats.org/officeDocument/2006/relationships" r:id="R0eacc030ef374a39"/>
  </p:notesMasterIdLst>
  <p:sldIdLst>
    <p:sldId xmlns:r="http://schemas.openxmlformats.org/officeDocument/2006/relationships" id="256" r:id="R4b321aa114de4355"/>
    <p:sldId xmlns:r="http://schemas.openxmlformats.org/officeDocument/2006/relationships" id="257" r:id="Rb008dad2f9064788"/>
    <p:sldId xmlns:r="http://schemas.openxmlformats.org/officeDocument/2006/relationships" id="258" r:id="R73b497fcea094fb7"/>
    <p:sldId xmlns:r="http://schemas.openxmlformats.org/officeDocument/2006/relationships" id="259" r:id="R1ffc36baae9a427f"/>
    <p:sldId xmlns:r="http://schemas.openxmlformats.org/officeDocument/2006/relationships" id="260" r:id="R7bf00da5be0e4903"/>
    <p:sldId xmlns:r="http://schemas.openxmlformats.org/officeDocument/2006/relationships" id="261" r:id="R3b61ccbad4654f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75f349f8f48b1" /><Relationship Type="http://schemas.openxmlformats.org/officeDocument/2006/relationships/slideMaster" Target="/ppt/slideMasters/slideMaster1.xml" Id="R6a3bcf1104b449a0" /><Relationship Type="http://schemas.openxmlformats.org/officeDocument/2006/relationships/notesMaster" Target="/ppt/notesMasters/notesMaster1.xml" Id="R0eacc030ef374a39" /><Relationship Type="http://schemas.openxmlformats.org/officeDocument/2006/relationships/presProps" Target="/ppt/presProps.xml" Id="R15bc11cd4925427b" /><Relationship Type="http://schemas.openxmlformats.org/officeDocument/2006/relationships/tableStyles" Target="/ppt/tableStyles.xml" Id="R0fadf4b7fbcf4f47" /><Relationship Type="http://schemas.openxmlformats.org/officeDocument/2006/relationships/slide" Target="/ppt/slides/slide1.xml" Id="R4b321aa114de4355" /><Relationship Type="http://schemas.openxmlformats.org/officeDocument/2006/relationships/slide" Target="/ppt/slides/slide2.xml" Id="Rb008dad2f9064788" /><Relationship Type="http://schemas.openxmlformats.org/officeDocument/2006/relationships/slide" Target="/ppt/slides/slide3.xml" Id="R73b497fcea094fb7" /><Relationship Type="http://schemas.openxmlformats.org/officeDocument/2006/relationships/slide" Target="/ppt/slides/slide4.xml" Id="R1ffc36baae9a427f" /><Relationship Type="http://schemas.openxmlformats.org/officeDocument/2006/relationships/slide" Target="/ppt/slides/slide5.xml" Id="R7bf00da5be0e4903" /><Relationship Type="http://schemas.openxmlformats.org/officeDocument/2006/relationships/slide" Target="/ppt/slides/slide6.xml" Id="R3b61ccbad4654f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b64e10d6c143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8781b5ba3f4da8" /><Relationship Type="http://schemas.openxmlformats.org/officeDocument/2006/relationships/notesMaster" Target="/ppt/notesMasters/notesMaster1.xml" Id="R7447fdee3f824f3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eb753ce7c0a4f94" /><Relationship Type="http://schemas.openxmlformats.org/officeDocument/2006/relationships/notesMaster" Target="/ppt/notesMasters/notesMaster1.xml" Id="R668c16d29a844e3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2ff49ddbd94c6d" /><Relationship Type="http://schemas.openxmlformats.org/officeDocument/2006/relationships/notesMaster" Target="/ppt/notesMasters/notesMaster1.xml" Id="R39555d7aca0b4c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3b54d61f83d44b8" /><Relationship Type="http://schemas.openxmlformats.org/officeDocument/2006/relationships/notesMaster" Target="/ppt/notesMasters/notesMaster1.xml" Id="Rb1ecdfba02e941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a14473afa384328" /><Relationship Type="http://schemas.openxmlformats.org/officeDocument/2006/relationships/notesMaster" Target="/ppt/notesMasters/notesMaster1.xml" Id="R2db7d60aa86540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a6bfe52882b413a" /><Relationship Type="http://schemas.openxmlformats.org/officeDocument/2006/relationships/notesMaster" Target="/ppt/notesMasters/notesMaster1.xml" Id="R94a02c258c00468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45a4af62444f2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3deeee640e4cd2" /><Relationship Type="http://schemas.openxmlformats.org/officeDocument/2006/relationships/slideLayout" Target="/ppt/slideLayouts/slideLayout1.xml" Id="Rb2aa69dbc6a643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aa69dbc6a643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9f16c109144b6" /><Relationship Type="http://schemas.openxmlformats.org/officeDocument/2006/relationships/notesSlide" Target="/ppt/notesSlides/notesSlide1.xml" Id="R34964280bb12481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7fc5cac5854ad9" /><Relationship Type="http://schemas.openxmlformats.org/officeDocument/2006/relationships/notesSlide" Target="/ppt/notesSlides/notesSlide2.xml" Id="R281717a11f444e0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9a2f7397e64e53" /><Relationship Type="http://schemas.openxmlformats.org/officeDocument/2006/relationships/notesSlide" Target="/ppt/notesSlides/notesSlide3.xml" Id="R83ca51f0abd5435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2cc05a7ca4c50" /><Relationship Type="http://schemas.openxmlformats.org/officeDocument/2006/relationships/notesSlide" Target="/ppt/notesSlides/notesSlide4.xml" Id="R8ff4c0b79ab041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c086d9bcc44b27" /><Relationship Type="http://schemas.openxmlformats.org/officeDocument/2006/relationships/notesSlide" Target="/ppt/notesSlides/notesSlide5.xml" Id="R09d500247a964c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169ea1262c4d43" /><Relationship Type="http://schemas.openxmlformats.org/officeDocument/2006/relationships/notesSlide" Target="/ppt/notesSlides/notesSlide6.xml" Id="R49d1a7190fcb40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9E030DE2-1592-473E-A8F4-1E56C6D3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0"/>
            <a:ext cx="952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F6A05E41-EFE2-4D8E-9960-B6DA95A1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4095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HYDRAULIC EROSION</a:t>
            </a:r>
          </a:p>
        </p:txBody>
      </p:sp>
      <p:sp>
        <p:nvSpPr>
          <p:cNvPr id="3" name="cover-stack">
            <a:extLst xmlns:a="http://schemas.openxmlformats.org/drawingml/2006/main">
              <a:ext uri="{FF2B5EF4-FFF2-40B4-BE49-F238E27FC236}">
                <a16:creationId xmlns:a16="http://schemas.microsoft.com/office/drawing/2014/main" id="{27B8E318-C765-4FDC-B2EC-B99B0218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0050"/>
            <a:ext cx="3981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6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VULKAN  ·  C++  ·  REALTIME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8E90042A-B311-433E-9D80-80FFF38A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9810750" cy="2857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spcAft>
                <a:spcPts val="0"/>
              </a:spcAft>
              <a:buNone/>
              <a:defRPr sz="54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Droplet-Driven 3D
Terrain Erosion Simulator</a:t>
            </a:r>
          </a:p>
        </p:txBody>
      </p:sp>
      <p:sp>
        <p:nvSpPr>
          <p:cNvPr id="5" name="cover-scope">
            <a:extLst xmlns:a="http://schemas.openxmlformats.org/drawingml/2006/main">
              <a:ext uri="{FF2B5EF4-FFF2-40B4-BE49-F238E27FC236}">
                <a16:creationId xmlns:a16="http://schemas.microsoft.com/office/drawing/2014/main" id="{9F619A1A-1B21-4E58-9D7B-191D860C1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05500"/>
            <a:ext cx="876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Phases 1–5: physics, realtime particles, dynamic terrain, and validation</a:t>
            </a:r>
          </a:p>
        </p:txBody>
      </p:sp>
    </p:spTree>
    <p:extLst>
      <p:ext uri="{BB962C8B-B14F-4D97-AF65-F5344CB8AC3E}">
        <p14:creationId xmlns:p14="http://schemas.microsoft.com/office/powerpoint/2010/main" val="18782742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2-title">
            <a:extLst xmlns:a="http://schemas.openxmlformats.org/drawingml/2006/main">
              <a:ext uri="{FF2B5EF4-FFF2-40B4-BE49-F238E27FC236}">
                <a16:creationId xmlns:a16="http://schemas.microsoft.com/office/drawing/2014/main" id="{86F4D4C5-06D0-483C-A064-1E9F150B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A visible erosion process—not a static result</a:t>
            </a:r>
          </a:p>
        </p:txBody>
      </p:sp>
      <p:sp>
        <p:nvSpPr>
          <p:cNvPr id="2" name="s2-intro">
            <a:extLst xmlns:a="http://schemas.openxmlformats.org/drawingml/2006/main">
              <a:ext uri="{FF2B5EF4-FFF2-40B4-BE49-F238E27FC236}">
                <a16:creationId xmlns:a16="http://schemas.microsoft.com/office/drawing/2014/main" id="{09794A50-3E2D-49D8-9015-322CE06F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11049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Each droplet spawns at a random position, follows the local slope, and directly modifies the height field while the renderer continuously rebuilds the terrain.</a:t>
            </a:r>
          </a:p>
        </p:txBody>
      </p:sp>
      <p:sp>
        <p:nvSpPr>
          <p:cNvPr id="3" name="static-card">
            <a:extLst xmlns:a="http://schemas.openxmlformats.org/drawingml/2006/main">
              <a:ext uri="{FF2B5EF4-FFF2-40B4-BE49-F238E27FC236}">
                <a16:creationId xmlns:a16="http://schemas.microsoft.com/office/drawing/2014/main" id="{56289D70-4243-43F8-A86E-87BBBF89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76550"/>
            <a:ext cx="542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2F4F7"/>
          </a:solidFill>
          <a:ln xmlns:a="http://schemas.openxmlformats.org/drawingml/2006/main" w="9525">
            <a:solidFill>
              <a:srgbClr val="D0D5DD"/>
            </a:solidFill>
            <a:prstDash val="solid"/>
          </a:ln>
        </p:spPr>
      </p:sp>
      <p:sp>
        <p:nvSpPr>
          <p:cNvPr id="4" name="dynamic-card">
            <a:extLst xmlns:a="http://schemas.openxmlformats.org/drawingml/2006/main">
              <a:ext uri="{FF2B5EF4-FFF2-40B4-BE49-F238E27FC236}">
                <a16:creationId xmlns:a16="http://schemas.microsoft.com/office/drawing/2014/main" id="{471064FF-E288-406B-AA91-29DB2E52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56007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9050">
            <a:solidFill>
              <a:srgbClr val="1570EF"/>
            </a:solidFill>
            <a:prstDash val="solid"/>
          </a:ln>
        </p:spPr>
      </p:sp>
      <p:sp>
        <p:nvSpPr>
          <p:cNvPr id="5" name="static-title">
            <a:extLst xmlns:a="http://schemas.openxmlformats.org/drawingml/2006/main">
              <a:ext uri="{FF2B5EF4-FFF2-40B4-BE49-F238E27FC236}">
                <a16:creationId xmlns:a16="http://schemas.microsoft.com/office/drawing/2014/main" id="{7DD0E33E-BC97-416F-8F54-DFDEFD82A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32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Static erosion output</a:t>
            </a:r>
          </a:p>
        </p:txBody>
      </p:sp>
      <p:sp>
        <p:nvSpPr>
          <p:cNvPr id="6" name="static-body">
            <a:extLst xmlns:a="http://schemas.openxmlformats.org/drawingml/2006/main">
              <a:ext uri="{FF2B5EF4-FFF2-40B4-BE49-F238E27FC236}">
                <a16:creationId xmlns:a16="http://schemas.microsoft.com/office/drawing/2014/main" id="{B488532D-F151-4E0E-8E68-36D36231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4476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8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6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Only the final heightmap is visible
Individual droplet effects cannot be observed
Parameter changes have no immediate feedback</a:t>
            </a:r>
          </a:p>
        </p:txBody>
      </p:sp>
      <p:sp>
        <p:nvSpPr>
          <p:cNvPr id="7" name="dynamic-title">
            <a:extLst xmlns:a="http://schemas.openxmlformats.org/drawingml/2006/main">
              <a:ext uri="{FF2B5EF4-FFF2-40B4-BE49-F238E27FC236}">
                <a16:creationId xmlns:a16="http://schemas.microsoft.com/office/drawing/2014/main" id="{FD612A80-70F2-4471-BA5F-F0CC8844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5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32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This project: realtime simulation</a:t>
            </a:r>
          </a:p>
        </p:txBody>
      </p:sp>
      <p:sp>
        <p:nvSpPr>
          <p:cNvPr id="8" name="dynamic-body">
            <a:extLst xmlns:a="http://schemas.openxmlformats.org/drawingml/2006/main">
              <a:ext uri="{FF2B5EF4-FFF2-40B4-BE49-F238E27FC236}">
                <a16:creationId xmlns:a16="http://schemas.microsoft.com/office/drawing/2014/main" id="{478D695A-D51B-4649-874F-921BD80D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867150"/>
            <a:ext cx="476250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46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6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Droplets continuously spawn and move
Erosion, transport, and deposition update together
Terrain, droplets, and pooled water render as 3D meshes</a:t>
            </a:r>
          </a:p>
        </p:txBody>
      </p:sp>
      <p:sp>
        <p:nvSpPr>
          <p:cNvPr id="9" name="footer-2">
            <a:extLst xmlns:a="http://schemas.openxmlformats.org/drawingml/2006/main">
              <a:ext uri="{FF2B5EF4-FFF2-40B4-BE49-F238E27FC236}">
                <a16:creationId xmlns:a16="http://schemas.microsoft.com/office/drawing/2014/main" id="{228A83AD-9552-4023-86C1-59C1A227D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46779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3-title">
            <a:extLst xmlns:a="http://schemas.openxmlformats.org/drawingml/2006/main">
              <a:ext uri="{FF2B5EF4-FFF2-40B4-BE49-F238E27FC236}">
                <a16:creationId xmlns:a16="http://schemas.microsoft.com/office/drawing/2014/main" id="{6793BB09-2826-4BA6-B2E6-970E3590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037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Each droplet closes the feedback loop in three stages</a:t>
            </a:r>
          </a:p>
        </p:txBody>
      </p:sp>
      <p:cxnSp>
        <p:nvCxnSpPr>
          <p:cNvPr id="17" name="physics-connector"/>
          <p:cNvCxnSpPr/>
          <p:nvPr/>
        </p:nvCxnSpPr>
        <p:spPr>
          <a:xfrm xmlns:a="http://schemas.openxmlformats.org/drawingml/2006/main">
            <a:off x="762000" y="3048000"/>
            <a:ext cx="100965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570EF"/>
            </a:solidFill>
            <a:prstDash val="solid"/>
          </a:ln>
        </p:spPr>
      </p:cxnSp>
      <p:sp>
        <p:nvSpPr>
          <p:cNvPr id="3" name="physics-node-1">
            <a:extLst xmlns:a="http://schemas.openxmlformats.org/drawingml/2006/main">
              <a:ext uri="{FF2B5EF4-FFF2-40B4-BE49-F238E27FC236}">
                <a16:creationId xmlns:a16="http://schemas.microsoft.com/office/drawing/2014/main" id="{1F6485C4-E98F-4381-A948-90568324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4" name="physics-node-2">
            <a:extLst xmlns:a="http://schemas.openxmlformats.org/drawingml/2006/main">
              <a:ext uri="{FF2B5EF4-FFF2-40B4-BE49-F238E27FC236}">
                <a16:creationId xmlns:a16="http://schemas.microsoft.com/office/drawing/2014/main" id="{3C7D119B-D2A1-4DFE-B032-64794362E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5" name="physics-node-3">
            <a:extLst xmlns:a="http://schemas.openxmlformats.org/drawingml/2006/main">
              <a:ext uri="{FF2B5EF4-FFF2-40B4-BE49-F238E27FC236}">
                <a16:creationId xmlns:a16="http://schemas.microsoft.com/office/drawing/2014/main" id="{FEDF40C4-F2C5-41BF-8932-3BED24FB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337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6" name="stage-1-label">
            <a:extLst xmlns:a="http://schemas.openxmlformats.org/drawingml/2006/main">
              <a:ext uri="{FF2B5EF4-FFF2-40B4-BE49-F238E27FC236}">
                <a16:creationId xmlns:a16="http://schemas.microsoft.com/office/drawing/2014/main" id="{0B2FA63A-DF1D-4502-A5B3-D3378734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01  SAMPLE &amp; MOVE</a:t>
            </a:r>
          </a:p>
        </p:txBody>
      </p:sp>
      <p:sp>
        <p:nvSpPr>
          <p:cNvPr id="7" name="stage-2-label">
            <a:extLst xmlns:a="http://schemas.openxmlformats.org/drawingml/2006/main">
              <a:ext uri="{FF2B5EF4-FFF2-40B4-BE49-F238E27FC236}">
                <a16:creationId xmlns:a16="http://schemas.microsoft.com/office/drawing/2014/main" id="{731CA9BC-970F-405F-8190-B04EA7438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02  ERODE OR DEPOSIT</a:t>
            </a:r>
          </a:p>
        </p:txBody>
      </p:sp>
      <p:sp>
        <p:nvSpPr>
          <p:cNvPr id="8" name="stage-3-label">
            <a:extLst xmlns:a="http://schemas.openxmlformats.org/drawingml/2006/main">
              <a:ext uri="{FF2B5EF4-FFF2-40B4-BE49-F238E27FC236}">
                <a16:creationId xmlns:a16="http://schemas.microsoft.com/office/drawing/2014/main" id="{D93EFA24-719A-4E5D-BAAA-D45959D37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62200"/>
            <a:ext cx="295275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63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03  UPDATE &amp; TERMINATE</a:t>
            </a:r>
          </a:p>
        </p:txBody>
      </p:sp>
      <p:sp>
        <p:nvSpPr>
          <p:cNvPr id="9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82F01AD8-4F69-4478-9FDF-AE69D104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Height and gradient</a:t>
            </a:r>
          </a:p>
        </p:txBody>
      </p:sp>
      <p:sp>
        <p:nvSpPr>
          <p:cNvPr id="10" name="stage-1-body">
            <a:extLst xmlns:a="http://schemas.openxmlformats.org/drawingml/2006/main">
              <a:ext uri="{FF2B5EF4-FFF2-40B4-BE49-F238E27FC236}">
                <a16:creationId xmlns:a16="http://schemas.microsoft.com/office/drawing/2014/main" id="{50729589-5DDF-499D-AC06-3E99A2BA5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Bilinear sampling reads local height; inertia and the negative gradient determine direction.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0B8675DC-5BE3-4CA0-9EAE-D8F97934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Sediment capacity</a:t>
            </a:r>
          </a:p>
        </p:txBody>
      </p:sp>
      <p:sp>
        <p:nvSpPr>
          <p:cNvPr id="12" name="stage-2-body">
            <a:extLst xmlns:a="http://schemas.openxmlformats.org/drawingml/2006/main">
              <a:ext uri="{FF2B5EF4-FFF2-40B4-BE49-F238E27FC236}">
                <a16:creationId xmlns:a16="http://schemas.microsoft.com/office/drawing/2014/main" id="{12AAF5D1-199D-44DD-AA52-8CDC9DA74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Low capacity triggers deposition; spare capacity erodes terrain with a radius-weighted brush.</a:t>
            </a:r>
          </a:p>
        </p:txBody>
      </p:sp>
      <p:sp>
        <p:nvSpPr>
          <p:cNvPr id="13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9D814BA0-5387-4E88-81CA-3E44BD2D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857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91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Speed, water, and lifetime</a:t>
            </a:r>
          </a:p>
        </p:txBody>
      </p:sp>
      <p:sp>
        <p:nvSpPr>
          <p:cNvPr id="14" name="stage-3-body">
            <a:extLst xmlns:a="http://schemas.openxmlformats.org/drawingml/2006/main">
              <a:ext uri="{FF2B5EF4-FFF2-40B4-BE49-F238E27FC236}">
                <a16:creationId xmlns:a16="http://schemas.microsoft.com/office/drawing/2014/main" id="{77F133FE-A120-431A-B708-5A2C2E3D7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71950"/>
            <a:ext cx="28575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5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Gravity updates speed, evaporation reduces water, and boundary, lifetime, or stalling conditions end the droplet.</a:t>
            </a:r>
          </a:p>
        </p:txBody>
      </p:sp>
      <p:sp>
        <p:nvSpPr>
          <p:cNvPr id="15" name="footer-3">
            <a:extLst xmlns:a="http://schemas.openxmlformats.org/drawingml/2006/main">
              <a:ext uri="{FF2B5EF4-FFF2-40B4-BE49-F238E27FC236}">
                <a16:creationId xmlns:a16="http://schemas.microsoft.com/office/drawing/2014/main" id="{4A547D43-B8DC-4E8B-BD6A-562A7C1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29573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4-title">
            <a:extLst xmlns:a="http://schemas.openxmlformats.org/drawingml/2006/main">
              <a:ext uri="{FF2B5EF4-FFF2-40B4-BE49-F238E27FC236}">
                <a16:creationId xmlns:a16="http://schemas.microsoft.com/office/drawing/2014/main" id="{EB6A978F-E500-4B3C-A523-4F6F1915A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23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Three layers keep the simulator testable</a:t>
            </a:r>
          </a:p>
        </p:txBody>
      </p:sp>
      <p:sp>
        <p:nvSpPr>
          <p:cNvPr id="2" name="s4-claim">
            <a:extLst xmlns:a="http://schemas.openxmlformats.org/drawingml/2006/main">
              <a:ext uri="{FF2B5EF4-FFF2-40B4-BE49-F238E27FC236}">
                <a16:creationId xmlns:a16="http://schemas.microsoft.com/office/drawing/2014/main" id="{F4AE0E6C-A92E-46D8-8B1B-2B6D02FA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90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1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The CPU runs deterministic physics; Vulkan efficiently displays continuously changing data.</a:t>
            </a:r>
          </a:p>
        </p:txBody>
      </p:sp>
      <p:sp>
        <p:nvSpPr>
          <p:cNvPr id="3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8DD44F88-CE9D-4FD9-9EE9-97EF9120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4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7CF820CA-D517-45AF-AE75-BE43F497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DE2A8D0-0A6B-458B-88A4-70E2384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857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70EF"/>
          </a:solidFill>
        </p:spPr>
      </p:sp>
      <p:sp>
        <p:nvSpPr>
          <p:cNvPr id="6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2128D620-10DE-4CB2-A4A2-92A0F433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Physics core</a:t>
            </a:r>
          </a:p>
        </p:txBody>
      </p:sp>
      <p:sp>
        <p:nvSpPr>
          <p:cNvPr id="7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4B3DAD5E-FB20-49F2-8B28-910253EC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Bilinear HeightField sampling
Droplet state at a fixed 60 Hz
Erosion, deposition, evaporation, and pooling</a:t>
            </a:r>
          </a:p>
        </p:txBody>
      </p:sp>
      <p:sp>
        <p:nvSpPr>
          <p:cNvPr id="8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74D528B1-76B1-4981-91A6-DDEF8046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Mesh generation</a:t>
            </a:r>
          </a:p>
        </p:txBody>
      </p:sp>
      <p:sp>
        <p:nvSpPr>
          <p:cNvPr id="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3A5B4A2A-24E3-4884-AB4E-07A3F1916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Terrain vertices and normals
Droplet geometry construction
Continuous 3D pooled-water surface</a:t>
            </a:r>
          </a:p>
        </p:txBody>
      </p:sp>
      <p:sp>
        <p:nvSpPr>
          <p:cNvPr id="10" name="layer-3-title">
            <a:extLst xmlns:a="http://schemas.openxmlformats.org/drawingml/2006/main">
              <a:ext uri="{FF2B5EF4-FFF2-40B4-BE49-F238E27FC236}">
                <a16:creationId xmlns:a16="http://schemas.microsoft.com/office/drawing/2014/main" id="{466E418B-08A1-4B2A-A8B4-1CF0D54F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57500"/>
            <a:ext cx="31432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225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Vulkan presentation</a:t>
            </a:r>
          </a:p>
        </p:txBody>
      </p:sp>
      <p:sp>
        <p:nvSpPr>
          <p:cNvPr id="11" name="layer-3-body">
            <a:extLst xmlns:a="http://schemas.openxmlformats.org/drawingml/2006/main">
              <a:ext uri="{FF2B5EF4-FFF2-40B4-BE49-F238E27FC236}">
                <a16:creationId xmlns:a16="http://schemas.microsoft.com/office/drawing/2014/main" id="{02EA0D4F-6B81-4C08-956F-94028705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543300"/>
            <a:ext cx="3143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1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2000"/>
              </a:lnSpc>
              <a:spcAft>
                <a:spcPts val="0"/>
              </a:spcAft>
              <a:buNone/>
              <a:defRPr sz="15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Indexed terrain mesh rendering
Continuous dynamic vertex uploads
ImGui controls and realtime feedback</a:t>
            </a:r>
          </a:p>
        </p:txBody>
      </p:sp>
      <p:sp>
        <p:nvSpPr>
          <p:cNvPr id="12" name="footer-4">
            <a:extLst xmlns:a="http://schemas.openxmlformats.org/drawingml/2006/main">
              <a:ext uri="{FF2B5EF4-FFF2-40B4-BE49-F238E27FC236}">
                <a16:creationId xmlns:a16="http://schemas.microsoft.com/office/drawing/2014/main" id="{B174BD6E-DDCB-4E60-9F00-4596F5B0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04731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5-title">
            <a:extLst xmlns:a="http://schemas.openxmlformats.org/drawingml/2006/main">
              <a:ext uri="{FF2B5EF4-FFF2-40B4-BE49-F238E27FC236}">
                <a16:creationId xmlns:a16="http://schemas.microsoft.com/office/drawing/2014/main" id="{164F5B51-E81C-4592-8BAC-79B03846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11049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89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36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Mouse state separates camera control from UI editing</a:t>
            </a:r>
          </a:p>
        </p:txBody>
      </p:sp>
      <p:sp>
        <p:nvSpPr>
          <p:cNvPr id="2" name="s5-callout">
            <a:extLst xmlns:a="http://schemas.openxmlformats.org/drawingml/2006/main">
              <a:ext uri="{FF2B5EF4-FFF2-40B4-BE49-F238E27FC236}">
                <a16:creationId xmlns:a16="http://schemas.microsoft.com/office/drawing/2014/main" id="{CCC13A64-6624-4758-AF50-2CAFE474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43815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spcAft>
                <a:spcPts val="0"/>
              </a:spcAft>
              <a:buNone/>
              <a:defRPr sz="315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Right-click switches
interaction mode</a:t>
            </a:r>
          </a:p>
        </p:txBody>
      </p:sp>
      <p:sp>
        <p:nvSpPr>
          <p:cNvPr id="3" name="s5-body">
            <a:extLst xmlns:a="http://schemas.openxmlformats.org/drawingml/2006/main">
              <a:ext uri="{FF2B5EF4-FFF2-40B4-BE49-F238E27FC236}">
                <a16:creationId xmlns:a16="http://schemas.microsoft.com/office/drawing/2014/main" id="{15600076-EC1C-4C1D-9514-17B88F4B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352800"/>
            <a:ext cx="51435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94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6000"/>
              </a:lnSpc>
              <a:spcAft>
                <a:spcPts val="0"/>
              </a:spcAft>
              <a:buNone/>
              <a:defRPr sz="17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With the cursor hidden, the camera orbits the terrain center. With the cursor visible, camera control stops and the UI takes focus. Parameter changes affect subsequent simulation steps immediately.</a:t>
            </a:r>
          </a:p>
        </p:txBody>
      </p:sp>
      <p:sp>
        <p:nvSpPr>
          <p:cNvPr id="4" name="check-1">
            <a:extLst xmlns:a="http://schemas.openxmlformats.org/drawingml/2006/main">
              <a:ext uri="{FF2B5EF4-FFF2-40B4-BE49-F238E27FC236}">
                <a16:creationId xmlns:a16="http://schemas.microsoft.com/office/drawing/2014/main" id="{5CA8CFC6-594F-423C-B75F-F2644D5B6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✓  Right-click: show / hide cursor</a:t>
            </a:r>
          </a:p>
        </p:txBody>
      </p:sp>
      <p:sp>
        <p:nvSpPr>
          <p:cNvPr id="5" name="check-2">
            <a:extLst xmlns:a="http://schemas.openxmlformats.org/drawingml/2006/main">
              <a:ext uri="{FF2B5EF4-FFF2-40B4-BE49-F238E27FC236}">
                <a16:creationId xmlns:a16="http://schemas.microsoft.com/office/drawing/2014/main" id="{42245F3A-A3A6-4C06-9A45-738FEAB2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432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Mouse movement: orbit the terrain</a:t>
            </a:r>
          </a:p>
        </p:txBody>
      </p:sp>
      <p:sp>
        <p:nvSpPr>
          <p:cNvPr id="6" name="check-3">
            <a:extLst xmlns:a="http://schemas.openxmlformats.org/drawingml/2006/main">
              <a:ext uri="{FF2B5EF4-FFF2-40B4-BE49-F238E27FC236}">
                <a16:creationId xmlns:a16="http://schemas.microsoft.com/office/drawing/2014/main" id="{9051CCA0-BCCE-485E-9381-DA4A8D106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99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Wheel: change viewing distance</a:t>
            </a:r>
          </a:p>
        </p:txBody>
      </p:sp>
      <p:sp>
        <p:nvSpPr>
          <p:cNvPr id="7" name="check-4">
            <a:extLst xmlns:a="http://schemas.openxmlformats.org/drawingml/2006/main">
              <a:ext uri="{FF2B5EF4-FFF2-40B4-BE49-F238E27FC236}">
                <a16:creationId xmlns:a16="http://schemas.microsoft.com/office/drawing/2014/main" id="{FFF1DB82-C218-4A4C-8DA3-69DDC3D1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7670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UI: rainfall, erosion, and settling</a:t>
            </a:r>
          </a:p>
        </p:txBody>
      </p:sp>
      <p:sp>
        <p:nvSpPr>
          <p:cNvPr id="8" name="check-5">
            <a:extLst xmlns:a="http://schemas.openxmlformats.org/drawingml/2006/main">
              <a:ext uri="{FF2B5EF4-FFF2-40B4-BE49-F238E27FC236}">
                <a16:creationId xmlns:a16="http://schemas.microsoft.com/office/drawing/2014/main" id="{BC6652E8-F239-453E-8C7A-12DF5ED1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7625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4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75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✓  Reset: restore terrain, water, and droplets</a:t>
            </a:r>
          </a:p>
        </p:txBody>
      </p:sp>
      <p:sp>
        <p:nvSpPr>
          <p:cNvPr id="9" name="footer-5">
            <a:extLst xmlns:a="http://schemas.openxmlformats.org/drawingml/2006/main">
              <a:ext uri="{FF2B5EF4-FFF2-40B4-BE49-F238E27FC236}">
                <a16:creationId xmlns:a16="http://schemas.microsoft.com/office/drawing/2014/main" id="{D59C11B3-3744-4DC2-B9C3-7F510F4A4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05550"/>
            <a:ext cx="5143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0"/>
              </a:spcAft>
              <a:buNone/>
              <a:defRPr sz="112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2742811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6-kicker">
            <a:extLst xmlns:a="http://schemas.openxmlformats.org/drawingml/2006/main">
              <a:ext uri="{FF2B5EF4-FFF2-40B4-BE49-F238E27FC236}">
                <a16:creationId xmlns:a16="http://schemas.microsoft.com/office/drawing/2014/main" id="{A95CD033-7B4A-4ECA-A7AE-0EB4462C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3429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725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CURRENT OUTCOME</a:t>
            </a:r>
          </a:p>
        </p:txBody>
      </p:sp>
      <p:sp>
        <p:nvSpPr>
          <p:cNvPr id="2" name="s6-title">
            <a:extLst xmlns:a="http://schemas.openxmlformats.org/drawingml/2006/main">
              <a:ext uri="{FF2B5EF4-FFF2-40B4-BE49-F238E27FC236}">
                <a16:creationId xmlns:a16="http://schemas.microsoft.com/office/drawing/2014/main" id="{1C7867BA-EA16-4C76-9041-9EF0DB019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14500"/>
            <a:ext cx="9620250" cy="228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spcAft>
                <a:spcPts val="0"/>
              </a:spcAft>
              <a:buNone/>
              <a:defRPr sz="51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100" b="1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Phases 1–5
form a demonstrable loop</a:t>
            </a:r>
          </a:p>
        </p:txBody>
      </p:sp>
      <p:sp>
        <p:nvSpPr>
          <p:cNvPr id="3" name="s6-done">
            <a:extLst xmlns:a="http://schemas.openxmlformats.org/drawingml/2006/main">
              <a:ext uri="{FF2B5EF4-FFF2-40B4-BE49-F238E27FC236}">
                <a16:creationId xmlns:a16="http://schemas.microsoft.com/office/drawing/2014/main" id="{2DA6F439-0B33-43AD-A4DF-B8CFA272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625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Implemented | input, droplet physics, dynamic erosion, 3D water, and interaction</a:t>
            </a:r>
          </a:p>
        </p:txBody>
      </p:sp>
      <p:sp>
        <p:nvSpPr>
          <p:cNvPr id="4" name="s6-verified">
            <a:extLst xmlns:a="http://schemas.openxmlformats.org/drawingml/2006/main">
              <a:ext uri="{FF2B5EF4-FFF2-40B4-BE49-F238E27FC236}">
                <a16:creationId xmlns:a16="http://schemas.microsoft.com/office/drawing/2014/main" id="{1578B816-CF77-4D93-AE06-801FC305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578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01828"/>
                </a:solidFill>
                <a:latin typeface="Microsoft YaHei"/>
                <a:ea typeface="Microsoft YaHei"/>
                <a:cs typeface="Microsoft YaHei"/>
              </a:rPr>
              <a:t>Validated | fixed seeds, branch coverage, lifetime limits, and mass conservation</a:t>
            </a:r>
          </a:p>
        </p:txBody>
      </p:sp>
      <p:sp>
        <p:nvSpPr>
          <p:cNvPr id="5" name="s6-next">
            <a:extLst xmlns:a="http://schemas.openxmlformats.org/drawingml/2006/main">
              <a:ext uri="{FF2B5EF4-FFF2-40B4-BE49-F238E27FC236}">
                <a16:creationId xmlns:a16="http://schemas.microsoft.com/office/drawing/2014/main" id="{CBAF6AA5-00C1-4E8D-AA32-E10EB70A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0287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0"/>
              </a:spcAft>
              <a:buNone/>
              <a:defRPr sz="1800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849A9"/>
                </a:solidFill>
                <a:latin typeface="Microsoft YaHei"/>
                <a:ea typeface="Microsoft YaHei"/>
                <a:cs typeface="Microsoft YaHei"/>
              </a:rPr>
              <a:t>Next | Phase 6: parameter tuning, GUI refinement, and CPU profiling</a:t>
            </a:r>
          </a:p>
        </p:txBody>
      </p:sp>
    </p:spTree>
    <p:extLst>
      <p:ext uri="{BB962C8B-B14F-4D97-AF65-F5344CB8AC3E}">
        <p14:creationId xmlns:p14="http://schemas.microsoft.com/office/powerpoint/2010/main" val="10827645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2026-07-15T22:57:00.8840000Z</dcterms:created>
  <dcterms:modified xsi:type="dcterms:W3CDTF">2026-07-15T22:57:00.8840000Z</dcterms:modified>
</coreProperties>
</file>