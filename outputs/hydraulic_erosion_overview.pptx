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d4d1c01fa74ef7" /><Relationship Type="http://schemas.openxmlformats.org/officeDocument/2006/relationships/extended-properties" Target="/docProps/app.xml" Id="R0f348329e7a84a45" /><Relationship Type="http://schemas.openxmlformats.org/officeDocument/2006/relationships/officeDocument" Target="/ppt/presentation.xml" Id="Rca941893951f46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3b2ba44ba14d88"/>
  </p:sldMasterIdLst>
  <p:notesMasterIdLst>
    <p:notesMasterId xmlns:r="http://schemas.openxmlformats.org/officeDocument/2006/relationships" r:id="Re0b2acb91f434a6d"/>
  </p:notesMasterIdLst>
  <p:sldIdLst>
    <p:sldId xmlns:r="http://schemas.openxmlformats.org/officeDocument/2006/relationships" id="256" r:id="R9b5a7acc90fc4412"/>
    <p:sldId xmlns:r="http://schemas.openxmlformats.org/officeDocument/2006/relationships" id="257" r:id="R9feb4f3a93bc4a3a"/>
    <p:sldId xmlns:r="http://schemas.openxmlformats.org/officeDocument/2006/relationships" id="258" r:id="R6fdc492e85ca45f1"/>
    <p:sldId xmlns:r="http://schemas.openxmlformats.org/officeDocument/2006/relationships" id="259" r:id="R3e5c2902151e40da"/>
    <p:sldId xmlns:r="http://schemas.openxmlformats.org/officeDocument/2006/relationships" id="260" r:id="R561f02856ada4df1"/>
    <p:sldId xmlns:r="http://schemas.openxmlformats.org/officeDocument/2006/relationships" id="261" r:id="R1df11c9c363e4b0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8b1e38681a4348" /><Relationship Type="http://schemas.openxmlformats.org/officeDocument/2006/relationships/slideMaster" Target="/ppt/slideMasters/slideMaster1.xml" Id="Rcd3b2ba44ba14d88" /><Relationship Type="http://schemas.openxmlformats.org/officeDocument/2006/relationships/notesMaster" Target="/ppt/notesMasters/notesMaster1.xml" Id="Re0b2acb91f434a6d" /><Relationship Type="http://schemas.openxmlformats.org/officeDocument/2006/relationships/presProps" Target="/ppt/presProps.xml" Id="R93a3d5d20d6448f8" /><Relationship Type="http://schemas.openxmlformats.org/officeDocument/2006/relationships/tableStyles" Target="/ppt/tableStyles.xml" Id="R7b1e850786eb40ab" /><Relationship Type="http://schemas.openxmlformats.org/officeDocument/2006/relationships/slide" Target="/ppt/slides/slide1.xml" Id="R9b5a7acc90fc4412" /><Relationship Type="http://schemas.openxmlformats.org/officeDocument/2006/relationships/slide" Target="/ppt/slides/slide2.xml" Id="R9feb4f3a93bc4a3a" /><Relationship Type="http://schemas.openxmlformats.org/officeDocument/2006/relationships/slide" Target="/ppt/slides/slide3.xml" Id="R6fdc492e85ca45f1" /><Relationship Type="http://schemas.openxmlformats.org/officeDocument/2006/relationships/slide" Target="/ppt/slides/slide4.xml" Id="R3e5c2902151e40da" /><Relationship Type="http://schemas.openxmlformats.org/officeDocument/2006/relationships/slide" Target="/ppt/slides/slide5.xml" Id="R561f02856ada4df1" /><Relationship Type="http://schemas.openxmlformats.org/officeDocument/2006/relationships/slide" Target="/ppt/slides/slide6.xml" Id="R1df11c9c363e4b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365278599d41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1f1357e4b42b2" /><Relationship Type="http://schemas.openxmlformats.org/officeDocument/2006/relationships/notesMaster" Target="/ppt/notesMasters/notesMaster1.xml" Id="Raaff9f5a067f4e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4aa7c880484ea6" /><Relationship Type="http://schemas.openxmlformats.org/officeDocument/2006/relationships/notesMaster" Target="/ppt/notesMasters/notesMaster1.xml" Id="R76894e26dbb74d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36153598a3450e" /><Relationship Type="http://schemas.openxmlformats.org/officeDocument/2006/relationships/notesMaster" Target="/ppt/notesMasters/notesMaster1.xml" Id="R0aec4ae75aa94e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379f3270e4a3f" /><Relationship Type="http://schemas.openxmlformats.org/officeDocument/2006/relationships/notesMaster" Target="/ppt/notesMasters/notesMaster1.xml" Id="R25034110fb064d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4f52d79e2d466d" /><Relationship Type="http://schemas.openxmlformats.org/officeDocument/2006/relationships/notesMaster" Target="/ppt/notesMasters/notesMaster1.xml" Id="R504c9e7b56264c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2ea8f59cbb4bfb" /><Relationship Type="http://schemas.openxmlformats.org/officeDocument/2006/relationships/notesMaster" Target="/ppt/notesMasters/notesMaster1.xml" Id="Rcf0736c36e674d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9dc43a7e749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c6836df0fa4243" /><Relationship Type="http://schemas.openxmlformats.org/officeDocument/2006/relationships/slideLayout" Target="/ppt/slideLayouts/slideLayout1.xml" Id="Re00305a534014e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0305a534014e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9160f59494df8" /><Relationship Type="http://schemas.openxmlformats.org/officeDocument/2006/relationships/notesSlide" Target="/ppt/notesSlides/notesSlide1.xml" Id="Rb58c0fe2079341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690c080eb4761" /><Relationship Type="http://schemas.openxmlformats.org/officeDocument/2006/relationships/notesSlide" Target="/ppt/notesSlides/notesSlide2.xml" Id="Rbcc4f2b5966345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76d86bce64b5d" /><Relationship Type="http://schemas.openxmlformats.org/officeDocument/2006/relationships/notesSlide" Target="/ppt/notesSlides/notesSlide3.xml" Id="Rde86149ced0e45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e786dba3346ae" /><Relationship Type="http://schemas.openxmlformats.org/officeDocument/2006/relationships/notesSlide" Target="/ppt/notesSlides/notesSlide4.xml" Id="R1d1895d1fa7543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be653976b4cf9" /><Relationship Type="http://schemas.openxmlformats.org/officeDocument/2006/relationships/notesSlide" Target="/ppt/notesSlides/notesSlide5.xml" Id="Ra529a1863c984e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541bc213a4f84" /><Relationship Type="http://schemas.openxmlformats.org/officeDocument/2006/relationships/notesSlide" Target="/ppt/notesSlides/notesSlide6.xml" Id="R41cfd9e6b77046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827907A-A706-497D-A075-BEDB9B2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B7E5796-559E-4746-A2B2-3EB2B9B8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HYDRAULIC EROSION</a:t>
            </a:r>
          </a:p>
        </p:txBody>
      </p:sp>
      <p:sp>
        <p:nvSpPr>
          <p:cNvPr id="3" name="cover-stack">
            <a:extLst xmlns:a="http://schemas.openxmlformats.org/drawingml/2006/main">
              <a:ext uri="{FF2B5EF4-FFF2-40B4-BE49-F238E27FC236}">
                <a16:creationId xmlns:a16="http://schemas.microsoft.com/office/drawing/2014/main" id="{91412295-94EF-4166-9CAD-0469D5AD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VULKAN  ·  C++  ·  REALTIME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C6030B3-CF51-471D-804F-A91ADDB8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98107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水滴驱动的 3D
地形侵蚀模拟器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83252644-54E8-4FD5-BD44-F21697B8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876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Phases 1–5：物理模型、实时粒子、动态地形与验证</a:t>
            </a:r>
          </a:p>
        </p:txBody>
      </p:sp>
    </p:spTree>
    <p:extLst>
      <p:ext uri="{BB962C8B-B14F-4D97-AF65-F5344CB8AC3E}">
        <p14:creationId xmlns:p14="http://schemas.microsoft.com/office/powerpoint/2010/main" val="900315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">
            <a:extLst xmlns:a="http://schemas.openxmlformats.org/drawingml/2006/main">
              <a:ext uri="{FF2B5EF4-FFF2-40B4-BE49-F238E27FC236}">
                <a16:creationId xmlns:a16="http://schemas.microsoft.com/office/drawing/2014/main" id="{822231DD-FE88-4E16-B1C8-BB6D499A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目标不是生成一张结果图，而是让侵蚀过程实时发生</a:t>
            </a:r>
          </a:p>
        </p:txBody>
      </p:sp>
      <p:sp>
        <p:nvSpPr>
          <p:cNvPr id="2" name="s2-intro">
            <a:extLst xmlns:a="http://schemas.openxmlformats.org/drawingml/2006/main">
              <a:ext uri="{FF2B5EF4-FFF2-40B4-BE49-F238E27FC236}">
                <a16:creationId xmlns:a16="http://schemas.microsoft.com/office/drawing/2014/main" id="{7E1C29D1-A204-4B18-94D9-3B93427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每颗水滴从随机位置生成，根据局部坡度移动，并在运动过程中直接改变高度场；渲染端持续重建可见地形。</a:t>
            </a:r>
          </a:p>
        </p:txBody>
      </p:sp>
      <p:sp>
        <p:nvSpPr>
          <p:cNvPr id="3" name="static-card">
            <a:extLst xmlns:a="http://schemas.openxmlformats.org/drawingml/2006/main">
              <a:ext uri="{FF2B5EF4-FFF2-40B4-BE49-F238E27FC236}">
                <a16:creationId xmlns:a16="http://schemas.microsoft.com/office/drawing/2014/main" id="{8593DB60-B812-4EB8-967B-B8175D94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42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dynamic-card">
            <a:extLst xmlns:a="http://schemas.openxmlformats.org/drawingml/2006/main">
              <a:ext uri="{FF2B5EF4-FFF2-40B4-BE49-F238E27FC236}">
                <a16:creationId xmlns:a16="http://schemas.microsoft.com/office/drawing/2014/main" id="{F63E4D23-F5DF-4090-9861-2229ECC5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6007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9050">
            <a:solidFill>
              <a:srgbClr val="1570EF"/>
            </a:solidFill>
            <a:prstDash val="solid"/>
          </a:ln>
        </p:spPr>
      </p:sp>
      <p:sp>
        <p:nvSpPr>
          <p:cNvPr id="5" name="static-title">
            <a:extLst xmlns:a="http://schemas.openxmlformats.org/drawingml/2006/main">
              <a:ext uri="{FF2B5EF4-FFF2-40B4-BE49-F238E27FC236}">
                <a16:creationId xmlns:a16="http://schemas.microsoft.com/office/drawing/2014/main" id="{F5FBA0FD-CD06-475F-AE53-7A1A2320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32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静态侵蚀结果</a:t>
            </a:r>
          </a:p>
        </p:txBody>
      </p:sp>
      <p:sp>
        <p:nvSpPr>
          <p:cNvPr id="6" name="static-body">
            <a:extLst xmlns:a="http://schemas.openxmlformats.org/drawingml/2006/main">
              <a:ext uri="{FF2B5EF4-FFF2-40B4-BE49-F238E27FC236}">
                <a16:creationId xmlns:a16="http://schemas.microsoft.com/office/drawing/2014/main" id="{6EB19538-125F-4501-AE7E-69511066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476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6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只看到最终高度图
无法观察单颗水滴的作用
参数变化缺少即时反馈</a:t>
            </a:r>
          </a:p>
        </p:txBody>
      </p:sp>
      <p:sp>
        <p:nvSpPr>
          <p:cNvPr id="7" name="dynamic-title">
            <a:extLst xmlns:a="http://schemas.openxmlformats.org/drawingml/2006/main">
              <a:ext uri="{FF2B5EF4-FFF2-40B4-BE49-F238E27FC236}">
                <a16:creationId xmlns:a16="http://schemas.microsoft.com/office/drawing/2014/main" id="{C4B7FF91-7677-4CD2-837D-87D3F97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32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本项目：实时模拟</a:t>
            </a:r>
          </a:p>
        </p:txBody>
      </p:sp>
      <p:sp>
        <p:nvSpPr>
          <p:cNvPr id="8" name="dynamic-body">
            <a:extLst xmlns:a="http://schemas.openxmlformats.org/drawingml/2006/main">
              <a:ext uri="{FF2B5EF4-FFF2-40B4-BE49-F238E27FC236}">
                <a16:creationId xmlns:a16="http://schemas.microsoft.com/office/drawing/2014/main" id="{473C8BCF-56EB-4E80-8C56-FBF439AC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6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随机水滴持续生成与移动
侵蚀、携沙、沉积同步更新
地形、水滴与积水以 3D 网格呈现</a:t>
            </a:r>
          </a:p>
        </p:txBody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43252CA2-B9F2-4334-81C7-2417C4D5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6167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">
            <a:extLst xmlns:a="http://schemas.openxmlformats.org/drawingml/2006/main">
              <a:ext uri="{FF2B5EF4-FFF2-40B4-BE49-F238E27FC236}">
                <a16:creationId xmlns:a16="http://schemas.microsoft.com/office/drawing/2014/main" id="{C675544E-EEC9-46CE-B2B4-CD466CE4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一颗水滴在三个阶段内完成地形反馈</a:t>
            </a:r>
          </a:p>
        </p:txBody>
      </p:sp>
      <p:cxnSp>
        <p:nvCxnSpPr>
          <p:cNvPr id="17" name="physics-connector"/>
          <p:cNvCxnSpPr/>
          <p:nvPr/>
        </p:nvCxnSpPr>
        <p:spPr>
          <a:xfrm xmlns:a="http://schemas.openxmlformats.org/drawingml/2006/main">
            <a:off x="762000" y="3048000"/>
            <a:ext cx="100965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70EF"/>
            </a:solidFill>
            <a:prstDash val="solid"/>
          </a:ln>
        </p:spPr>
      </p:cxnSp>
      <p:sp>
        <p:nvSpPr>
          <p:cNvPr id="3" name="physics-node-1">
            <a:extLst xmlns:a="http://schemas.openxmlformats.org/drawingml/2006/main">
              <a:ext uri="{FF2B5EF4-FFF2-40B4-BE49-F238E27FC236}">
                <a16:creationId xmlns:a16="http://schemas.microsoft.com/office/drawing/2014/main" id="{DF2DA21A-33F1-4E1F-958F-965CE60D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4" name="physics-node-2">
            <a:extLst xmlns:a="http://schemas.openxmlformats.org/drawingml/2006/main">
              <a:ext uri="{FF2B5EF4-FFF2-40B4-BE49-F238E27FC236}">
                <a16:creationId xmlns:a16="http://schemas.microsoft.com/office/drawing/2014/main" id="{8E9CA147-2706-460A-BE8A-A4E777E1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5" name="physics-node-3">
            <a:extLst xmlns:a="http://schemas.openxmlformats.org/drawingml/2006/main">
              <a:ext uri="{FF2B5EF4-FFF2-40B4-BE49-F238E27FC236}">
                <a16:creationId xmlns:a16="http://schemas.microsoft.com/office/drawing/2014/main" id="{208AC997-5BDF-468B-82D6-566246A1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6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A6CACC68-83FF-4BF0-9D4F-743BEF50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01 采样与移动</a:t>
            </a:r>
          </a:p>
        </p:txBody>
      </p:sp>
      <p:sp>
        <p:nvSpPr>
          <p:cNvPr id="7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EDB543E3-ABDE-49EF-A185-D267E6F6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02 侵蚀或沉积</a:t>
            </a:r>
          </a:p>
        </p:txBody>
      </p:sp>
      <p:sp>
        <p:nvSpPr>
          <p:cNvPr id="8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27172DB5-4BD6-450C-87D5-D48AB979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03 更新与终止</a:t>
            </a:r>
          </a:p>
        </p:txBody>
      </p:sp>
      <p:sp>
        <p:nvSpPr>
          <p:cNvPr id="9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FECB4186-48B0-41B3-9796-A2952E41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高度与梯度</a:t>
            </a:r>
          </a:p>
        </p:txBody>
      </p:sp>
      <p:sp>
        <p:nvSpPr>
          <p:cNvPr id="10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3C7C3B39-968A-4681-886E-925DE82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双线性采样局部高度；方向由惯性与负梯度共同决定。</a:t>
            </a:r>
          </a:p>
        </p:txBody>
      </p:sp>
      <p:sp>
        <p:nvSpPr>
          <p:cNvPr id="11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DF4C714-CC2B-45C4-A72C-E6DD5496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泥沙容量</a:t>
            </a:r>
          </a:p>
        </p:txBody>
      </p:sp>
      <p:sp>
        <p:nvSpPr>
          <p:cNvPr id="12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10BB25E2-F6F4-4318-9898-0C034CF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容量不足时沉积，容量有余时按半径权重侵蚀并携带泥沙。</a:t>
            </a:r>
          </a:p>
        </p:txBody>
      </p:sp>
      <p:sp>
        <p:nvSpPr>
          <p:cNvPr id="13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E75399CF-0AB0-4A81-BAA4-93930762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速度、水量与寿命</a:t>
            </a:r>
          </a:p>
        </p:txBody>
      </p:sp>
      <p:sp>
        <p:nvSpPr>
          <p:cNvPr id="14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3BEBA6CA-F638-44A8-A79C-210A9BA0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重力更新速度，蒸发减少水量；边界、寿命或静止条件结束水滴。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74091C42-BFE9-4B12-81A3-4A67DA2D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7683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">
            <a:extLst xmlns:a="http://schemas.openxmlformats.org/drawingml/2006/main">
              <a:ext uri="{FF2B5EF4-FFF2-40B4-BE49-F238E27FC236}">
                <a16:creationId xmlns:a16="http://schemas.microsoft.com/office/drawing/2014/main" id="{613CA11A-6A58-4FDD-8BFD-EC18739E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39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物理、可视化与渲染分层，便于独立测试和迭代</a:t>
            </a:r>
          </a:p>
        </p:txBody>
      </p:sp>
      <p:sp>
        <p:nvSpPr>
          <p:cNvPr id="2" name="s4-claim">
            <a:extLst xmlns:a="http://schemas.openxmlformats.org/drawingml/2006/main">
              <a:ext uri="{FF2B5EF4-FFF2-40B4-BE49-F238E27FC236}">
                <a16:creationId xmlns:a16="http://schemas.microsoft.com/office/drawing/2014/main" id="{01B5F4E4-1CFF-44DC-9CE1-45A19249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CPU 负责确定性物理；Vulkan 负责把不断变化的数据高效显示出来。</a:t>
            </a:r>
          </a:p>
        </p:txBody>
      </p:sp>
      <p:sp>
        <p:nvSpPr>
          <p:cNvPr id="3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F0006E12-8EB4-4AC9-A00C-398BBAA0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4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3ECF8FA-AD38-40C3-8A01-290E13CC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DB02F612-F138-4428-84A3-1A88592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6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A696169F-16E0-47EF-BFD2-20E66753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物理核心</a:t>
            </a:r>
          </a:p>
        </p:txBody>
      </p:sp>
      <p:sp>
        <p:nvSpPr>
          <p:cNvPr id="7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7DF38F98-E3F9-42B8-B9FA-95F1B21F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HeightField 双线性采样
水滴状态与固定 60 Hz 更新
侵蚀、沉积、蒸发和积水</a:t>
            </a:r>
          </a:p>
        </p:txBody>
      </p:sp>
      <p:sp>
        <p:nvSpPr>
          <p:cNvPr id="8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8496CA45-08BF-46DB-BEB7-9A6B580B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网格生成</a:t>
            </a:r>
          </a:p>
        </p:txBody>
      </p:sp>
      <p:sp>
        <p:nvSpPr>
          <p:cNvPr id="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01ED5449-0F10-49D8-BE64-D839C6DE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地形顶点与法线更新
水滴几何体构建
连续 3D 积水表面生成</a:t>
            </a:r>
          </a:p>
        </p:txBody>
      </p:sp>
      <p:sp>
        <p:nvSpPr>
          <p:cNvPr id="10" name="layer-3-title">
            <a:extLst xmlns:a="http://schemas.openxmlformats.org/drawingml/2006/main">
              <a:ext uri="{FF2B5EF4-FFF2-40B4-BE49-F238E27FC236}">
                <a16:creationId xmlns:a16="http://schemas.microsoft.com/office/drawing/2014/main" id="{5C325A3D-9D88-4614-821A-8E08A9D9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Vulkan 展示</a:t>
            </a:r>
          </a:p>
        </p:txBody>
      </p:sp>
      <p:sp>
        <p:nvSpPr>
          <p:cNvPr id="11" name="layer-3-body">
            <a:extLst xmlns:a="http://schemas.openxmlformats.org/drawingml/2006/main">
              <a:ext uri="{FF2B5EF4-FFF2-40B4-BE49-F238E27FC236}">
                <a16:creationId xmlns:a16="http://schemas.microsoft.com/office/drawing/2014/main" id="{C226C735-D73C-42D1-9DE2-612ED90E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索引地形网格绘制
持续上传动态顶点数据
ImGui 参数控制与实时反馈</a:t>
            </a:r>
          </a:p>
        </p:txBody>
      </p:sp>
      <p:sp>
        <p:nvSpPr>
          <p:cNvPr id="12" name="footer-4">
            <a:extLst xmlns:a="http://schemas.openxmlformats.org/drawingml/2006/main">
              <a:ext uri="{FF2B5EF4-FFF2-40B4-BE49-F238E27FC236}">
                <a16:creationId xmlns:a16="http://schemas.microsoft.com/office/drawing/2014/main" id="{3C833F8D-9BA7-4031-A5C8-CE48515A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9423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">
            <a:extLst xmlns:a="http://schemas.openxmlformats.org/drawingml/2006/main">
              <a:ext uri="{FF2B5EF4-FFF2-40B4-BE49-F238E27FC236}">
                <a16:creationId xmlns:a16="http://schemas.microsoft.com/office/drawing/2014/main" id="{D86C0DE3-2C31-4751-99CE-26D8B19E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鼠标状态明确区分相机控制与参数调节</a:t>
            </a:r>
          </a:p>
        </p:txBody>
      </p:sp>
      <p:sp>
        <p:nvSpPr>
          <p:cNvPr id="2" name="s5-callout">
            <a:extLst xmlns:a="http://schemas.openxmlformats.org/drawingml/2006/main">
              <a:ext uri="{FF2B5EF4-FFF2-40B4-BE49-F238E27FC236}">
                <a16:creationId xmlns:a16="http://schemas.microsoft.com/office/drawing/2014/main" id="{1D91455C-27C0-4B24-9311-14DD356F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381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右键切换
交互模式</a:t>
            </a:r>
          </a:p>
        </p:txBody>
      </p:sp>
      <p:sp>
        <p:nvSpPr>
          <p:cNvPr id="3" name="s5-body">
            <a:extLst xmlns:a="http://schemas.openxmlformats.org/drawingml/2006/main">
              <a:ext uri="{FF2B5EF4-FFF2-40B4-BE49-F238E27FC236}">
                <a16:creationId xmlns:a16="http://schemas.microsoft.com/office/drawing/2014/main" id="{E5BD1227-CFDE-48AD-BEE9-76A147FF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spcAft>
                <a:spcPts val="0"/>
              </a:spcAft>
              <a:buNone/>
              <a:defRPr sz="17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鼠标隐藏时围绕地形中心旋转相机；鼠标显示时停止控制相机，专注操作 UI。参数修改立即作用于后续模拟。</a:t>
            </a:r>
          </a:p>
        </p:txBody>
      </p:sp>
      <p:sp>
        <p:nvSpPr>
          <p:cNvPr id="4" name="check-1">
            <a:extLst xmlns:a="http://schemas.openxmlformats.org/drawingml/2006/main">
              <a:ext uri="{FF2B5EF4-FFF2-40B4-BE49-F238E27FC236}">
                <a16:creationId xmlns:a16="http://schemas.microsoft.com/office/drawing/2014/main" id="{397AD2F2-5EAC-40A6-974C-D917F36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✓  右键：显示 / 隐藏鼠标</a:t>
            </a:r>
          </a:p>
        </p:txBody>
      </p:sp>
      <p:sp>
        <p:nvSpPr>
          <p:cNvPr id="5" name="check-2">
            <a:extLst xmlns:a="http://schemas.openxmlformats.org/drawingml/2006/main">
              <a:ext uri="{FF2B5EF4-FFF2-40B4-BE49-F238E27FC236}">
                <a16:creationId xmlns:a16="http://schemas.microsoft.com/office/drawing/2014/main" id="{D944D73D-E623-49D7-B70F-EA541B0B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鼠标移动：环绕观察地形</a:t>
            </a:r>
          </a:p>
        </p:txBody>
      </p:sp>
      <p:sp>
        <p:nvSpPr>
          <p:cNvPr id="6" name="check-3">
            <a:extLst xmlns:a="http://schemas.openxmlformats.org/drawingml/2006/main">
              <a:ext uri="{FF2B5EF4-FFF2-40B4-BE49-F238E27FC236}">
                <a16:creationId xmlns:a16="http://schemas.microsoft.com/office/drawing/2014/main" id="{58DEDF16-52F3-4AE0-B676-AAE53AE3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滚轮：缩放观察距离</a:t>
            </a:r>
          </a:p>
        </p:txBody>
      </p:sp>
      <p:sp>
        <p:nvSpPr>
          <p:cNvPr id="7" name="check-4">
            <a:extLst xmlns:a="http://schemas.openxmlformats.org/drawingml/2006/main">
              <a:ext uri="{FF2B5EF4-FFF2-40B4-BE49-F238E27FC236}">
                <a16:creationId xmlns:a16="http://schemas.microsoft.com/office/drawing/2014/main" id="{2FB25C2A-42FD-4CDF-947F-920FB0A5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UI：降雨、侵蚀与静止参数</a:t>
            </a:r>
          </a:p>
        </p:txBody>
      </p:sp>
      <p:sp>
        <p:nvSpPr>
          <p:cNvPr id="8" name="check-5">
            <a:extLst xmlns:a="http://schemas.openxmlformats.org/drawingml/2006/main">
              <a:ext uri="{FF2B5EF4-FFF2-40B4-BE49-F238E27FC236}">
                <a16:creationId xmlns:a16="http://schemas.microsoft.com/office/drawing/2014/main" id="{834E25F7-7135-4F04-84E9-322568D2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Reset：恢复地形、水与粒子</a:t>
            </a:r>
          </a:p>
        </p:txBody>
      </p:sp>
      <p:sp>
        <p:nvSpPr>
          <p:cNvPr id="9" name="footer-5">
            <a:extLst xmlns:a="http://schemas.openxmlformats.org/drawingml/2006/main">
              <a:ext uri="{FF2B5EF4-FFF2-40B4-BE49-F238E27FC236}">
                <a16:creationId xmlns:a16="http://schemas.microsoft.com/office/drawing/2014/main" id="{1654ED6B-6978-46C1-A51F-6CF9028A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1493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kicker">
            <a:extLst xmlns:a="http://schemas.openxmlformats.org/drawingml/2006/main">
              <a:ext uri="{FF2B5EF4-FFF2-40B4-BE49-F238E27FC236}">
                <a16:creationId xmlns:a16="http://schemas.microsoft.com/office/drawing/2014/main" id="{478FFE51-DC3F-4922-AD59-41A1CED2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CURRENT OUTCOME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5C8AD7D5-9D46-4ED0-9388-3762155D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620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51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Phases 1–5
已形成可演示闭环</a:t>
            </a:r>
          </a:p>
        </p:txBody>
      </p:sp>
      <p:sp>
        <p:nvSpPr>
          <p:cNvPr id="3" name="s6-done">
            <a:extLst xmlns:a="http://schemas.openxmlformats.org/drawingml/2006/main">
              <a:ext uri="{FF2B5EF4-FFF2-40B4-BE49-F238E27FC236}">
                <a16:creationId xmlns:a16="http://schemas.microsoft.com/office/drawing/2014/main" id="{5E1C4A52-FC72-485B-8269-5ECD7DF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已实现｜输入、粒子物理、动态侵蚀、3D 水面与交互</a:t>
            </a:r>
          </a:p>
        </p:txBody>
      </p:sp>
      <p:sp>
        <p:nvSpPr>
          <p:cNvPr id="4" name="s6-verified">
            <a:extLst xmlns:a="http://schemas.openxmlformats.org/drawingml/2006/main">
              <a:ext uri="{FF2B5EF4-FFF2-40B4-BE49-F238E27FC236}">
                <a16:creationId xmlns:a16="http://schemas.microsoft.com/office/drawing/2014/main" id="{9352D23B-82BF-4D4E-AEF3-1FC4D08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已验证｜固定随机种子、分支覆盖、寿命限制与质量守恒</a:t>
            </a:r>
          </a:p>
        </p:txBody>
      </p:sp>
      <p:sp>
        <p:nvSpPr>
          <p:cNvPr id="5" name="s6-next">
            <a:extLst xmlns:a="http://schemas.openxmlformats.org/drawingml/2006/main">
              <a:ext uri="{FF2B5EF4-FFF2-40B4-BE49-F238E27FC236}">
                <a16:creationId xmlns:a16="http://schemas.microsoft.com/office/drawing/2014/main" id="{64DC5373-0D65-41E2-9DA3-B71D6B96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下一步｜进入 Phase 6：参数调优、GUI 完善与 CPU profiling</a:t>
            </a:r>
          </a:p>
        </p:txBody>
      </p:sp>
    </p:spTree>
    <p:extLst>
      <p:ext uri="{BB962C8B-B14F-4D97-AF65-F5344CB8AC3E}">
        <p14:creationId xmlns:p14="http://schemas.microsoft.com/office/powerpoint/2010/main" val="1796528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2026-07-15T22:48:21.8380000Z</dcterms:created>
  <dcterms:modified xsi:type="dcterms:W3CDTF">2026-07-15T22:48:21.8380000Z</dcterms:modified>
</coreProperties>
</file>