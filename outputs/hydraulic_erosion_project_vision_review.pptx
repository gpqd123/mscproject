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31e45269e4b84" /><Relationship Type="http://schemas.openxmlformats.org/officeDocument/2006/relationships/extended-properties" Target="/docProps/app.xml" Id="R94c80f9db9994516" /><Relationship Type="http://schemas.openxmlformats.org/officeDocument/2006/relationships/officeDocument" Target="/ppt/presentation.xml" Id="Rae28ca3b331b47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16df96b436450c"/>
  </p:sldMasterIdLst>
  <p:notesMasterIdLst>
    <p:notesMasterId xmlns:r="http://schemas.openxmlformats.org/officeDocument/2006/relationships" r:id="Rbbd61731a54341a1"/>
  </p:notesMasterIdLst>
  <p:sldIdLst>
    <p:sldId xmlns:r="http://schemas.openxmlformats.org/officeDocument/2006/relationships" id="256" r:id="R1683b892b0444246"/>
    <p:sldId xmlns:r="http://schemas.openxmlformats.org/officeDocument/2006/relationships" id="257" r:id="R08a3f13728ee44f5"/>
    <p:sldId xmlns:r="http://schemas.openxmlformats.org/officeDocument/2006/relationships" id="258" r:id="Rcc8dacc4a49d401e"/>
    <p:sldId xmlns:r="http://schemas.openxmlformats.org/officeDocument/2006/relationships" id="259" r:id="Rc92350891238460c"/>
    <p:sldId xmlns:r="http://schemas.openxmlformats.org/officeDocument/2006/relationships" id="260" r:id="Ra6cdcc64e3f24a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2863878277465f" /><Relationship Type="http://schemas.openxmlformats.org/officeDocument/2006/relationships/slideMaster" Target="/ppt/slideMasters/slideMaster1.xml" Id="R5816df96b436450c" /><Relationship Type="http://schemas.openxmlformats.org/officeDocument/2006/relationships/notesMaster" Target="/ppt/notesMasters/notesMaster1.xml" Id="Rbbd61731a54341a1" /><Relationship Type="http://schemas.openxmlformats.org/officeDocument/2006/relationships/presProps" Target="/ppt/presProps.xml" Id="R96b553a9c6af401d" /><Relationship Type="http://schemas.openxmlformats.org/officeDocument/2006/relationships/tableStyles" Target="/ppt/tableStyles.xml" Id="Rbceff766e6f44cb6" /><Relationship Type="http://schemas.openxmlformats.org/officeDocument/2006/relationships/slide" Target="/ppt/slides/slide1.xml" Id="R1683b892b0444246" /><Relationship Type="http://schemas.openxmlformats.org/officeDocument/2006/relationships/slide" Target="/ppt/slides/slide2.xml" Id="R08a3f13728ee44f5" /><Relationship Type="http://schemas.openxmlformats.org/officeDocument/2006/relationships/slide" Target="/ppt/slides/slide3.xml" Id="Rcc8dacc4a49d401e" /><Relationship Type="http://schemas.openxmlformats.org/officeDocument/2006/relationships/slide" Target="/ppt/slides/slide4.xml" Id="Rc92350891238460c" /><Relationship Type="http://schemas.openxmlformats.org/officeDocument/2006/relationships/slide" Target="/ppt/slides/slide5.xml" Id="Ra6cdcc64e3f24a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d4b6960fc2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b694799b7478c" /><Relationship Type="http://schemas.openxmlformats.org/officeDocument/2006/relationships/notesMaster" Target="/ppt/notesMasters/notesMaster1.xml" Id="R7bcf21e5ea4544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91802c14b4c47" /><Relationship Type="http://schemas.openxmlformats.org/officeDocument/2006/relationships/notesMaster" Target="/ppt/notesMasters/notesMaster1.xml" Id="R9025db78721240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52671dde904638" /><Relationship Type="http://schemas.openxmlformats.org/officeDocument/2006/relationships/notesMaster" Target="/ppt/notesMasters/notesMaster1.xml" Id="R884f1e83555649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0e794a664b41d7" /><Relationship Type="http://schemas.openxmlformats.org/officeDocument/2006/relationships/notesMaster" Target="/ppt/notesMasters/notesMaster1.xml" Id="R67cfa897908944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dba0acc41a4e78" /><Relationship Type="http://schemas.openxmlformats.org/officeDocument/2006/relationships/notesMaster" Target="/ppt/notesMasters/notesMaster1.xml" Id="Rfdcb847de60143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b3c76d1c14a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dc734badc453a" /><Relationship Type="http://schemas.openxmlformats.org/officeDocument/2006/relationships/slideLayout" Target="/ppt/slideLayouts/slideLayout1.xml" Id="R2fbc2cf4bb184f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bc2cf4bb184f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8501e2ed74650" /><Relationship Type="http://schemas.openxmlformats.org/officeDocument/2006/relationships/notesSlide" Target="/ppt/notesSlides/notesSlide1.xml" Id="R7b254c74066c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045754c724dac" /><Relationship Type="http://schemas.openxmlformats.org/officeDocument/2006/relationships/notesSlide" Target="/ppt/notesSlides/notesSlide2.xml" Id="Rbd7b783d2bfd47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d04fbf18942db" /><Relationship Type="http://schemas.openxmlformats.org/officeDocument/2006/relationships/notesSlide" Target="/ppt/notesSlides/notesSlide3.xml" Id="R7d204f1da1b147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636619a914fd5" /><Relationship Type="http://schemas.openxmlformats.org/officeDocument/2006/relationships/notesSlide" Target="/ppt/notesSlides/notesSlide4.xml" Id="R3a33f1813cb145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a889d34e24c5b" /><Relationship Type="http://schemas.openxmlformats.org/officeDocument/2006/relationships/notesSlide" Target="/ppt/notesSlides/notesSlide5.xml" Id="R3cfd71918f7142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66784E9-2AF4-4747-89F4-CBF510B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2C29E0A-DDC0-462B-9222-130FF3D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90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PROJECT VISION &amp; CURRENT STATUS | JULY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FD44F6-CDCB-4C60-9CE9-AE55BE7C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9144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Real-Time Hydraulic
Erosion Simulator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6060AD6-D069-400E-AD3E-607630B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7620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An interactive 3D system that makes terrain erosion visible as it happens</a:t>
            </a:r>
          </a:p>
        </p:txBody>
      </p:sp>
    </p:spTree>
    <p:extLst>
      <p:ext uri="{BB962C8B-B14F-4D97-AF65-F5344CB8AC3E}">
        <p14:creationId xmlns:p14="http://schemas.microsoft.com/office/powerpoint/2010/main" val="841319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64CFAEA4-5003-494A-AB96-CBC14CBB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goal is visible, believable and controllable erosion</a:t>
            </a:r>
          </a:p>
        </p:txBody>
      </p:sp>
      <p:sp>
        <p:nvSpPr>
          <p:cNvPr id="2" name="system-01">
            <a:extLst xmlns:a="http://schemas.openxmlformats.org/drawingml/2006/main">
              <a:ext uri="{FF2B5EF4-FFF2-40B4-BE49-F238E27FC236}">
                <a16:creationId xmlns:a16="http://schemas.microsoft.com/office/drawing/2014/main" id="{8E7D4AE6-4E3B-45E6-BCC5-C5D25F49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3" name="system-title-01">
            <a:extLst xmlns:a="http://schemas.openxmlformats.org/drawingml/2006/main">
              <a:ext uri="{FF2B5EF4-FFF2-40B4-BE49-F238E27FC236}">
                <a16:creationId xmlns:a16="http://schemas.microsoft.com/office/drawing/2014/main" id="{0EB22195-41AB-40A5-BFEE-1BF9E61D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Real-time 3D terrain</a:t>
            </a:r>
          </a:p>
        </p:txBody>
      </p:sp>
      <p:sp>
        <p:nvSpPr>
          <p:cNvPr id="4" name="system-body-01">
            <a:extLst xmlns:a="http://schemas.openxmlformats.org/drawingml/2006/main">
              <a:ext uri="{FF2B5EF4-FFF2-40B4-BE49-F238E27FC236}">
                <a16:creationId xmlns:a16="http://schemas.microsoft.com/office/drawing/2014/main" id="{5AFF9F53-5E35-4D1C-9B05-15148FBD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Terrain changes continuously while the simulation is running.</a:t>
            </a:r>
          </a:p>
        </p:txBody>
      </p:sp>
      <p:sp>
        <p:nvSpPr>
          <p:cNvPr id="5" name="system-02">
            <a:extLst xmlns:a="http://schemas.openxmlformats.org/drawingml/2006/main">
              <a:ext uri="{FF2B5EF4-FFF2-40B4-BE49-F238E27FC236}">
                <a16:creationId xmlns:a16="http://schemas.microsoft.com/office/drawing/2014/main" id="{235F559F-D481-4014-A0FC-271A363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system-title-02">
            <a:extLst xmlns:a="http://schemas.openxmlformats.org/drawingml/2006/main">
              <a:ext uri="{FF2B5EF4-FFF2-40B4-BE49-F238E27FC236}">
                <a16:creationId xmlns:a16="http://schemas.microsoft.com/office/drawing/2014/main" id="{1E50592E-78FF-49E3-AC27-BF62C55B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Downhill water flow</a:t>
            </a:r>
          </a:p>
        </p:txBody>
      </p:sp>
      <p:sp>
        <p:nvSpPr>
          <p:cNvPr id="7" name="system-body-02">
            <a:extLst xmlns:a="http://schemas.openxmlformats.org/drawingml/2006/main">
              <a:ext uri="{FF2B5EF4-FFF2-40B4-BE49-F238E27FC236}">
                <a16:creationId xmlns:a16="http://schemas.microsoft.com/office/drawing/2014/main" id="{45EC1951-8C84-4431-8EDE-8DDCDDB1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Water droplets move from high ground toward lower areas.</a:t>
            </a:r>
          </a:p>
        </p:txBody>
      </p:sp>
      <p:sp>
        <p:nvSpPr>
          <p:cNvPr id="8" name="system-03">
            <a:extLst xmlns:a="http://schemas.openxmlformats.org/drawingml/2006/main">
              <a:ext uri="{FF2B5EF4-FFF2-40B4-BE49-F238E27FC236}">
                <a16:creationId xmlns:a16="http://schemas.microsoft.com/office/drawing/2014/main" id="{F6F5C198-46E9-4DAB-AEDF-86B57C38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5290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9" name="system-title-03">
            <a:extLst xmlns:a="http://schemas.openxmlformats.org/drawingml/2006/main">
              <a:ext uri="{FF2B5EF4-FFF2-40B4-BE49-F238E27FC236}">
                <a16:creationId xmlns:a16="http://schemas.microsoft.com/office/drawing/2014/main" id="{542DE287-4858-4408-93A6-BB29971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Natural landforms</a:t>
            </a:r>
          </a:p>
        </p:txBody>
      </p:sp>
      <p:sp>
        <p:nvSpPr>
          <p:cNvPr id="10" name="system-body-03">
            <a:extLst xmlns:a="http://schemas.openxmlformats.org/drawingml/2006/main">
              <a:ext uri="{FF2B5EF4-FFF2-40B4-BE49-F238E27FC236}">
                <a16:creationId xmlns:a16="http://schemas.microsoft.com/office/drawing/2014/main" id="{9425DA85-4D1C-4D50-BD6D-C396B75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Erosion cuts gullies; carried soil settles in gentler places.</a:t>
            </a:r>
          </a:p>
        </p:txBody>
      </p:sp>
      <p:sp>
        <p:nvSpPr>
          <p:cNvPr id="11" name="system-04">
            <a:extLst xmlns:a="http://schemas.openxmlformats.org/drawingml/2006/main">
              <a:ext uri="{FF2B5EF4-FFF2-40B4-BE49-F238E27FC236}">
                <a16:creationId xmlns:a16="http://schemas.microsoft.com/office/drawing/2014/main" id="{8EA17532-356B-4D68-9EE5-D6B36CC6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2" name="system-title-04">
            <a:extLst xmlns:a="http://schemas.openxmlformats.org/drawingml/2006/main">
              <a:ext uri="{FF2B5EF4-FFF2-40B4-BE49-F238E27FC236}">
                <a16:creationId xmlns:a16="http://schemas.microsoft.com/office/drawing/2014/main" id="{60067F02-4B8C-4DDF-B372-DA70563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1480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Interactive learning</a:t>
            </a:r>
          </a:p>
        </p:txBody>
      </p:sp>
      <p:sp>
        <p:nvSpPr>
          <p:cNvPr id="13" name="system-body-04">
            <a:extLst xmlns:a="http://schemas.openxmlformats.org/drawingml/2006/main">
              <a:ext uri="{FF2B5EF4-FFF2-40B4-BE49-F238E27FC236}">
                <a16:creationId xmlns:a16="http://schemas.microsoft.com/office/drawing/2014/main" id="{F4BEB12E-882C-4F9B-8841-09964E22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8630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Simple controls reveal how water reshapes the same terrain.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D595587D-46FF-4202-80D4-D054D16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960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cept-title">
            <a:extLst xmlns:a="http://schemas.openxmlformats.org/drawingml/2006/main">
              <a:ext uri="{FF2B5EF4-FFF2-40B4-BE49-F238E27FC236}">
                <a16:creationId xmlns:a16="http://schemas.microsoft.com/office/drawing/2014/main" id="{E47E1E8D-E7A0-4B9E-B98E-DCC00D0F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See the process, not only the final terrain</a:t>
            </a:r>
          </a:p>
        </p:txBody>
      </p:sp>
      <p:sp>
        <p:nvSpPr>
          <p:cNvPr id="2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AAEC2B53-2BED-4D18-BB92-A1AE582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81150"/>
            <a:ext cx="883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5C1052E8-64A0-486F-92B3-86F6E211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90700"/>
            <a:ext cx="826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MOUNTAIN  &gt;  LIVE EROSION  &gt;  CHANGED TERRAIN</a:t>
            </a:r>
          </a:p>
        </p:txBody>
      </p:sp>
      <p:cxnSp>
        <p:nvCxnSpPr>
          <p:cNvPr id="29" name="concept-line"/>
          <p:cNvCxnSpPr/>
          <p:nvPr/>
        </p:nvCxnSpPr>
        <p:spPr>
          <a:xfrm xmlns:a="http://schemas.openxmlformats.org/drawingml/2006/main">
            <a:off x="876300" y="3505200"/>
            <a:ext cx="10439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concept-node-1">
            <a:extLst xmlns:a="http://schemas.openxmlformats.org/drawingml/2006/main">
              <a:ext uri="{FF2B5EF4-FFF2-40B4-BE49-F238E27FC236}">
                <a16:creationId xmlns:a16="http://schemas.microsoft.com/office/drawing/2014/main" id="{4B7BF5D8-1001-40EE-95B0-4C0DF99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concept-label-1">
            <a:extLst xmlns:a="http://schemas.openxmlformats.org/drawingml/2006/main">
              <a:ext uri="{FF2B5EF4-FFF2-40B4-BE49-F238E27FC236}">
                <a16:creationId xmlns:a16="http://schemas.microsoft.com/office/drawing/2014/main" id="{0B47DED8-319F-4FDA-BD39-AE47000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START</a:t>
            </a:r>
          </a:p>
        </p:txBody>
      </p:sp>
      <p:sp>
        <p:nvSpPr>
          <p:cNvPr id="7" name="concept-heading-1">
            <a:extLst xmlns:a="http://schemas.openxmlformats.org/drawingml/2006/main">
              <a:ext uri="{FF2B5EF4-FFF2-40B4-BE49-F238E27FC236}">
                <a16:creationId xmlns:a16="http://schemas.microsoft.com/office/drawing/2014/main" id="{3D5CC16F-8538-4555-95D8-F78328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clear 3D landscape</a:t>
            </a:r>
          </a:p>
        </p:txBody>
      </p:sp>
      <p:sp>
        <p:nvSpPr>
          <p:cNvPr id="8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77E256BA-E575-49CD-9995-4DF0FE79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Begin with a readable mountain and valley structure.</a:t>
            </a:r>
          </a:p>
        </p:txBody>
      </p:sp>
      <p:sp>
        <p:nvSpPr>
          <p:cNvPr id="9" name="concept-node-2">
            <a:extLst xmlns:a="http://schemas.openxmlformats.org/drawingml/2006/main">
              <a:ext uri="{FF2B5EF4-FFF2-40B4-BE49-F238E27FC236}">
                <a16:creationId xmlns:a16="http://schemas.microsoft.com/office/drawing/2014/main" id="{261C7F2F-7B51-4C9C-811D-72226EA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concept-label-2">
            <a:extLst xmlns:a="http://schemas.openxmlformats.org/drawingml/2006/main">
              <a:ext uri="{FF2B5EF4-FFF2-40B4-BE49-F238E27FC236}">
                <a16:creationId xmlns:a16="http://schemas.microsoft.com/office/drawing/2014/main" id="{5D3AAC69-5B9D-4405-B611-C70715AE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OBSERVE</a:t>
            </a:r>
          </a:p>
        </p:txBody>
      </p:sp>
      <p:sp>
        <p:nvSpPr>
          <p:cNvPr id="11" name="concept-heading-2">
            <a:extLst xmlns:a="http://schemas.openxmlformats.org/drawingml/2006/main">
              <a:ext uri="{FF2B5EF4-FFF2-40B4-BE49-F238E27FC236}">
                <a16:creationId xmlns:a16="http://schemas.microsoft.com/office/drawing/2014/main" id="{8FBFBBD7-6DEB-4C6F-A5FA-C62A7232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243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Erosion in motion</a:t>
            </a:r>
          </a:p>
        </p:txBody>
      </p:sp>
      <p:sp>
        <p:nvSpPr>
          <p:cNvPr id="12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EE8797B1-1ED1-44BA-80F7-67D5FAED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Follow droplets as they cut, carry and deposit soil.</a:t>
            </a:r>
          </a:p>
        </p:txBody>
      </p:sp>
      <p:sp>
        <p:nvSpPr>
          <p:cNvPr id="13" name="concept-node-3">
            <a:extLst xmlns:a="http://schemas.openxmlformats.org/drawingml/2006/main">
              <a:ext uri="{FF2B5EF4-FFF2-40B4-BE49-F238E27FC236}">
                <a16:creationId xmlns:a16="http://schemas.microsoft.com/office/drawing/2014/main" id="{651932A2-E7BC-4547-B269-39F832E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concept-label-3">
            <a:extLst xmlns:a="http://schemas.openxmlformats.org/drawingml/2006/main">
              <a:ext uri="{FF2B5EF4-FFF2-40B4-BE49-F238E27FC236}">
                <a16:creationId xmlns:a16="http://schemas.microsoft.com/office/drawing/2014/main" id="{F9D05764-C305-460D-BC96-FF92252B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RESULT</a:t>
            </a:r>
          </a:p>
        </p:txBody>
      </p:sp>
      <p:sp>
        <p:nvSpPr>
          <p:cNvPr id="15" name="concept-heading-3">
            <a:extLst xmlns:a="http://schemas.openxmlformats.org/drawingml/2006/main">
              <a:ext uri="{FF2B5EF4-FFF2-40B4-BE49-F238E27FC236}">
                <a16:creationId xmlns:a16="http://schemas.microsoft.com/office/drawing/2014/main" id="{84AAEA1C-1425-4C70-A558-989E6358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Visible change</a:t>
            </a:r>
          </a:p>
        </p:txBody>
      </p:sp>
      <p:sp>
        <p:nvSpPr>
          <p:cNvPr id="16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C2240973-E918-4728-BE97-759C8E4C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Compare the evolved surface with its starting shape.</a:t>
            </a:r>
          </a:p>
        </p:txBody>
      </p:sp>
      <p:sp>
        <p:nvSpPr>
          <p:cNvPr id="17" name="page-4">
            <a:extLst xmlns:a="http://schemas.openxmlformats.org/drawingml/2006/main">
              <a:ext uri="{FF2B5EF4-FFF2-40B4-BE49-F238E27FC236}">
                <a16:creationId xmlns:a16="http://schemas.microsoft.com/office/drawing/2014/main" id="{C5995C9A-B374-4FDF-BA12-EA82F7CC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616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gress-title">
            <a:extLst xmlns:a="http://schemas.openxmlformats.org/drawingml/2006/main">
              <a:ext uri="{FF2B5EF4-FFF2-40B4-BE49-F238E27FC236}">
                <a16:creationId xmlns:a16="http://schemas.microsoft.com/office/drawing/2014/main" id="{B9C905F0-D3EE-4EC7-90B0-DEF3A9E2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Current stage: the core prototype works end to end</a:t>
            </a:r>
          </a:p>
        </p:txBody>
      </p:sp>
      <p:sp>
        <p:nvSpPr>
          <p:cNvPr id="2" name="progress-summary">
            <a:extLst xmlns:a="http://schemas.openxmlformats.org/drawingml/2006/main">
              <a:ext uri="{FF2B5EF4-FFF2-40B4-BE49-F238E27FC236}">
                <a16:creationId xmlns:a16="http://schemas.microsoft.com/office/drawing/2014/main" id="{1FAEEC69-0C3F-405C-8B9B-02A98E9A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334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simulator already turns a terrain grid into a live 3D erosion demonstration.</a:t>
            </a:r>
          </a:p>
        </p:txBody>
      </p:sp>
      <p:sp>
        <p:nvSpPr>
          <p:cNvPr id="3" name="progress-callout">
            <a:extLst xmlns:a="http://schemas.openxmlformats.org/drawingml/2006/main">
              <a:ext uri="{FF2B5EF4-FFF2-40B4-BE49-F238E27FC236}">
                <a16:creationId xmlns:a16="http://schemas.microsoft.com/office/drawing/2014/main" id="{7DF18CBE-9E14-414E-BDD0-8F219761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callout-title">
            <a:extLst xmlns:a="http://schemas.openxmlformats.org/drawingml/2006/main">
              <a:ext uri="{FF2B5EF4-FFF2-40B4-BE49-F238E27FC236}">
                <a16:creationId xmlns:a16="http://schemas.microsoft.com/office/drawing/2014/main" id="{4FDEB5C0-A366-459A-9725-98A478E8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Current focus: physical credibility</a:t>
            </a:r>
          </a:p>
        </p:txBody>
      </p:sp>
      <p:sp>
        <p:nvSpPr>
          <p:cNvPr id="5" name="progress-callout-body">
            <a:extLst xmlns:a="http://schemas.openxmlformats.org/drawingml/2006/main">
              <a:ext uri="{FF2B5EF4-FFF2-40B4-BE49-F238E27FC236}">
                <a16:creationId xmlns:a16="http://schemas.microsoft.com/office/drawing/2014/main" id="{F3D84D95-67B1-40B3-BAD5-5D7A4C5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476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Core simulation complete; realism tuning is now in progress.</a:t>
            </a:r>
          </a:p>
        </p:txBody>
      </p:sp>
      <p:sp>
        <p:nvSpPr>
          <p:cNvPr id="6" name="check-circle-1">
            <a:extLst xmlns:a="http://schemas.openxmlformats.org/drawingml/2006/main">
              <a:ext uri="{FF2B5EF4-FFF2-40B4-BE49-F238E27FC236}">
                <a16:creationId xmlns:a16="http://schemas.microsoft.com/office/drawing/2014/main" id="{D79B3E3B-A135-4CF6-96E9-9C7F7E9A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38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AF543FB7-D152-4319-A01C-8CBFA763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1927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check-text-1">
            <a:extLst xmlns:a="http://schemas.openxmlformats.org/drawingml/2006/main">
              <a:ext uri="{FF2B5EF4-FFF2-40B4-BE49-F238E27FC236}">
                <a16:creationId xmlns:a16="http://schemas.microsoft.com/office/drawing/2014/main" id="{67C46C9C-6227-4345-B0BD-E9801DF8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Vulkan 3D terrain rendering</a:t>
            </a:r>
          </a:p>
        </p:txBody>
      </p:sp>
      <p:sp>
        <p:nvSpPr>
          <p:cNvPr id="9" name="check-circle-2">
            <a:extLst xmlns:a="http://schemas.openxmlformats.org/drawingml/2006/main">
              <a:ext uri="{FF2B5EF4-FFF2-40B4-BE49-F238E27FC236}">
                <a16:creationId xmlns:a16="http://schemas.microsoft.com/office/drawing/2014/main" id="{D40CADA4-D8F1-4907-AE2B-C4CA5EBB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81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60794E3B-81AA-49D3-A43E-F4232EF4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6222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1" name="check-text-2">
            <a:extLst xmlns:a="http://schemas.openxmlformats.org/drawingml/2006/main">
              <a:ext uri="{FF2B5EF4-FFF2-40B4-BE49-F238E27FC236}">
                <a16:creationId xmlns:a16="http://schemas.microsoft.com/office/drawing/2014/main" id="{769751CF-2630-4608-BA9A-12D38ED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Procedural mountain and PGM input</a:t>
            </a:r>
          </a:p>
        </p:txBody>
      </p:sp>
      <p:sp>
        <p:nvSpPr>
          <p:cNvPr id="12" name="check-circle-3">
            <a:extLst xmlns:a="http://schemas.openxmlformats.org/drawingml/2006/main">
              <a:ext uri="{FF2B5EF4-FFF2-40B4-BE49-F238E27FC236}">
                <a16:creationId xmlns:a16="http://schemas.microsoft.com/office/drawing/2014/main" id="{24636C68-59F4-49C2-A282-431F5BEF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24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check-3">
            <a:extLst xmlns:a="http://schemas.openxmlformats.org/drawingml/2006/main">
              <a:ext uri="{FF2B5EF4-FFF2-40B4-BE49-F238E27FC236}">
                <a16:creationId xmlns:a16="http://schemas.microsoft.com/office/drawing/2014/main" id="{686A5015-A9FB-4EEC-B807-CB39AB8B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0517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4" name="check-text-3">
            <a:extLst xmlns:a="http://schemas.openxmlformats.org/drawingml/2006/main">
              <a:ext uri="{FF2B5EF4-FFF2-40B4-BE49-F238E27FC236}">
                <a16:creationId xmlns:a16="http://schemas.microsoft.com/office/drawing/2014/main" id="{988229AB-5C57-44FC-A7FD-93C9FB79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565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Visible downhill water droplets</a:t>
            </a:r>
          </a:p>
        </p:txBody>
      </p:sp>
      <p:sp>
        <p:nvSpPr>
          <p:cNvPr id="15" name="check-circle-4">
            <a:extLst xmlns:a="http://schemas.openxmlformats.org/drawingml/2006/main">
              <a:ext uri="{FF2B5EF4-FFF2-40B4-BE49-F238E27FC236}">
                <a16:creationId xmlns:a16="http://schemas.microsoft.com/office/drawing/2014/main" id="{66A67FBB-6F74-46DE-9132-8D4ED97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67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check-4">
            <a:extLst xmlns:a="http://schemas.openxmlformats.org/drawingml/2006/main">
              <a:ext uri="{FF2B5EF4-FFF2-40B4-BE49-F238E27FC236}">
                <a16:creationId xmlns:a16="http://schemas.microsoft.com/office/drawing/2014/main" id="{1B1D4732-EABF-454C-B41B-C827D96D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4812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7" name="check-text-4">
            <a:extLst xmlns:a="http://schemas.openxmlformats.org/drawingml/2006/main">
              <a:ext uri="{FF2B5EF4-FFF2-40B4-BE49-F238E27FC236}">
                <a16:creationId xmlns:a16="http://schemas.microsoft.com/office/drawing/2014/main" id="{2FC14F18-DE75-4A6F-B850-E7B6AA5B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Erosion, deposition and evaporation</a:t>
            </a:r>
          </a:p>
        </p:txBody>
      </p:sp>
      <p:sp>
        <p:nvSpPr>
          <p:cNvPr id="18" name="check-circle-5">
            <a:extLst xmlns:a="http://schemas.openxmlformats.org/drawingml/2006/main">
              <a:ext uri="{FF2B5EF4-FFF2-40B4-BE49-F238E27FC236}">
                <a16:creationId xmlns:a16="http://schemas.microsoft.com/office/drawing/2014/main" id="{61C1A183-03D6-4559-9254-A01A6FE2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10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check-5">
            <a:extLst xmlns:a="http://schemas.openxmlformats.org/drawingml/2006/main">
              <a:ext uri="{FF2B5EF4-FFF2-40B4-BE49-F238E27FC236}">
                <a16:creationId xmlns:a16="http://schemas.microsoft.com/office/drawing/2014/main" id="{A4A78962-D01E-40F9-9383-460193B2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79107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check-text-5">
            <a:extLst xmlns:a="http://schemas.openxmlformats.org/drawingml/2006/main">
              <a:ext uri="{FF2B5EF4-FFF2-40B4-BE49-F238E27FC236}">
                <a16:creationId xmlns:a16="http://schemas.microsoft.com/office/drawing/2014/main" id="{BECB2D20-5071-4EE9-B59F-208C8ED5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Camera, live controls and validation tests</a:t>
            </a:r>
          </a:p>
        </p:txBody>
      </p:sp>
      <p:sp>
        <p:nvSpPr>
          <p:cNvPr id="21" name="page-3">
            <a:extLst xmlns:a="http://schemas.openxmlformats.org/drawingml/2006/main">
              <a:ext uri="{FF2B5EF4-FFF2-40B4-BE49-F238E27FC236}">
                <a16:creationId xmlns:a16="http://schemas.microsoft.com/office/drawing/2014/main" id="{F42C6B3A-4554-4111-A33E-E38073D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236242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cept-title">
            <a:extLst xmlns:a="http://schemas.openxmlformats.org/drawingml/2006/main">
              <a:ext uri="{FF2B5EF4-FFF2-40B4-BE49-F238E27FC236}">
                <a16:creationId xmlns:a16="http://schemas.microsoft.com/office/drawing/2014/main" id="{E47E1E8D-E7A0-4B9E-B98E-DCC00D0F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foundation works; what remains is refinement</a:t>
            </a:r>
          </a:p>
        </p:txBody>
      </p:sp>
      <p:sp>
        <p:nvSpPr>
          <p:cNvPr id="2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AAEC2B53-2BED-4D18-BB92-A1AE582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81150"/>
            <a:ext cx="883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5C1052E8-64A0-486F-92B3-86F6E211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90700"/>
            <a:ext cx="826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SUCCESS = STABLE, CLEAR AND PHYSICALLY PLAUSIBLE EROSION</a:t>
            </a:r>
          </a:p>
        </p:txBody>
      </p:sp>
      <p:cxnSp>
        <p:nvCxnSpPr>
          <p:cNvPr id="29" name="concept-line"/>
          <p:cNvCxnSpPr/>
          <p:nvPr/>
        </p:nvCxnSpPr>
        <p:spPr>
          <a:xfrm xmlns:a="http://schemas.openxmlformats.org/drawingml/2006/main">
            <a:off x="876300" y="3505200"/>
            <a:ext cx="10439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concept-node-1">
            <a:extLst xmlns:a="http://schemas.openxmlformats.org/drawingml/2006/main">
              <a:ext uri="{FF2B5EF4-FFF2-40B4-BE49-F238E27FC236}">
                <a16:creationId xmlns:a16="http://schemas.microsoft.com/office/drawing/2014/main" id="{4B7BF5D8-1001-40EE-95B0-4C0DF99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concept-label-1">
            <a:extLst xmlns:a="http://schemas.openxmlformats.org/drawingml/2006/main">
              <a:ext uri="{FF2B5EF4-FFF2-40B4-BE49-F238E27FC236}">
                <a16:creationId xmlns:a16="http://schemas.microsoft.com/office/drawing/2014/main" id="{0B47DED8-319F-4FDA-BD39-AE47000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LANDFORMS</a:t>
            </a:r>
          </a:p>
        </p:txBody>
      </p:sp>
      <p:sp>
        <p:nvSpPr>
          <p:cNvPr id="7" name="concept-heading-1">
            <a:extLst xmlns:a="http://schemas.openxmlformats.org/drawingml/2006/main">
              <a:ext uri="{FF2B5EF4-FFF2-40B4-BE49-F238E27FC236}">
                <a16:creationId xmlns:a16="http://schemas.microsoft.com/office/drawing/2014/main" id="{3D5CC16F-8538-4555-95D8-F78328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Stronger gullies</a:t>
            </a:r>
          </a:p>
        </p:txBody>
      </p:sp>
      <p:sp>
        <p:nvSpPr>
          <p:cNvPr id="8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77E256BA-E575-49CD-9995-4DF0FE79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Make channels more natural without noisy spikes.</a:t>
            </a:r>
          </a:p>
        </p:txBody>
      </p:sp>
      <p:sp>
        <p:nvSpPr>
          <p:cNvPr id="9" name="concept-node-2">
            <a:extLst xmlns:a="http://schemas.openxmlformats.org/drawingml/2006/main">
              <a:ext uri="{FF2B5EF4-FFF2-40B4-BE49-F238E27FC236}">
                <a16:creationId xmlns:a16="http://schemas.microsoft.com/office/drawing/2014/main" id="{261C7F2F-7B51-4C9C-811D-72226EA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concept-label-2">
            <a:extLst xmlns:a="http://schemas.openxmlformats.org/drawingml/2006/main">
              <a:ext uri="{FF2B5EF4-FFF2-40B4-BE49-F238E27FC236}">
                <a16:creationId xmlns:a16="http://schemas.microsoft.com/office/drawing/2014/main" id="{5D3AAC69-5B9D-4405-B611-C70715AE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STABILITY</a:t>
            </a:r>
          </a:p>
        </p:txBody>
      </p:sp>
      <p:sp>
        <p:nvSpPr>
          <p:cNvPr id="11" name="concept-heading-2">
            <a:extLst xmlns:a="http://schemas.openxmlformats.org/drawingml/2006/main">
              <a:ext uri="{FF2B5EF4-FFF2-40B4-BE49-F238E27FC236}">
                <a16:creationId xmlns:a16="http://schemas.microsoft.com/office/drawing/2014/main" id="{8FBFBBD7-6DEB-4C6F-A5FA-C62A7232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243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Cleaner behaviour</a:t>
            </a:r>
          </a:p>
        </p:txBody>
      </p:sp>
      <p:sp>
        <p:nvSpPr>
          <p:cNvPr id="12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EE8797B1-1ED1-44BA-80F7-67D5FAED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Reduce unrealistic deposition and visual artefacts.</a:t>
            </a:r>
          </a:p>
        </p:txBody>
      </p:sp>
      <p:sp>
        <p:nvSpPr>
          <p:cNvPr id="13" name="concept-node-3">
            <a:extLst xmlns:a="http://schemas.openxmlformats.org/drawingml/2006/main">
              <a:ext uri="{FF2B5EF4-FFF2-40B4-BE49-F238E27FC236}">
                <a16:creationId xmlns:a16="http://schemas.microsoft.com/office/drawing/2014/main" id="{651932A2-E7BC-4547-B269-39F832E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concept-label-3">
            <a:extLst xmlns:a="http://schemas.openxmlformats.org/drawingml/2006/main">
              <a:ext uri="{FF2B5EF4-FFF2-40B4-BE49-F238E27FC236}">
                <a16:creationId xmlns:a16="http://schemas.microsoft.com/office/drawing/2014/main" id="{F9D05764-C305-460D-BC96-FF92252B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5" name="concept-heading-3">
            <a:extLst xmlns:a="http://schemas.openxmlformats.org/drawingml/2006/main">
              <a:ext uri="{FF2B5EF4-FFF2-40B4-BE49-F238E27FC236}">
                <a16:creationId xmlns:a16="http://schemas.microsoft.com/office/drawing/2014/main" id="{84AAEA1C-1425-4C70-A558-989E6358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Convincing results</a:t>
            </a:r>
          </a:p>
        </p:txBody>
      </p:sp>
      <p:sp>
        <p:nvSpPr>
          <p:cNvPr id="16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C2240973-E918-4728-BE97-759C8E4C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Benchmark performance and present clear before-and-after proof.</a:t>
            </a:r>
          </a:p>
        </p:txBody>
      </p:sp>
      <p:sp>
        <p:nvSpPr>
          <p:cNvPr id="17" name="page-4">
            <a:extLst xmlns:a="http://schemas.openxmlformats.org/drawingml/2006/main">
              <a:ext uri="{FF2B5EF4-FFF2-40B4-BE49-F238E27FC236}">
                <a16:creationId xmlns:a16="http://schemas.microsoft.com/office/drawing/2014/main" id="{C5995C9A-B374-4FDF-BA12-EA82F7CC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1616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2026-07-17T01:52:21.1480000Z</dcterms:created>
  <dcterms:modified xsi:type="dcterms:W3CDTF">2026-07-17T01:52:21.1480000Z</dcterms:modified>
</coreProperties>
</file>