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41b394980e40e0" /><Relationship Type="http://schemas.openxmlformats.org/officeDocument/2006/relationships/extended-properties" Target="/docProps/app.xml" Id="Rb78ca274652b4ff7" /><Relationship Type="http://schemas.openxmlformats.org/officeDocument/2006/relationships/officeDocument" Target="/ppt/presentation.xml" Id="R83ecd24777c3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7724df51884d84"/>
  </p:sldMasterIdLst>
  <p:notesMasterIdLst>
    <p:notesMasterId xmlns:r="http://schemas.openxmlformats.org/officeDocument/2006/relationships" r:id="Re5eb4c44e3214a18"/>
  </p:notesMasterIdLst>
  <p:sldIdLst>
    <p:sldId xmlns:r="http://schemas.openxmlformats.org/officeDocument/2006/relationships" id="256" r:id="R6aaef1a4c25c416d"/>
    <p:sldId xmlns:r="http://schemas.openxmlformats.org/officeDocument/2006/relationships" id="257" r:id="R28031f2981c04eae"/>
    <p:sldId xmlns:r="http://schemas.openxmlformats.org/officeDocument/2006/relationships" id="258" r:id="Rc93b60785d704acc"/>
    <p:sldId xmlns:r="http://schemas.openxmlformats.org/officeDocument/2006/relationships" id="259" r:id="R5ebbb7bf5e5042d9"/>
    <p:sldId xmlns:r="http://schemas.openxmlformats.org/officeDocument/2006/relationships" id="260" r:id="R727e3d67d609405c"/>
    <p:sldId xmlns:r="http://schemas.openxmlformats.org/officeDocument/2006/relationships" id="261" r:id="R052a4645ef724d99"/>
    <p:sldId xmlns:r="http://schemas.openxmlformats.org/officeDocument/2006/relationships" id="262" r:id="R9607e215e7c44f61"/>
    <p:sldId xmlns:r="http://schemas.openxmlformats.org/officeDocument/2006/relationships" id="263" r:id="R16cc3a1b028e4e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d40da54a874571" /><Relationship Type="http://schemas.openxmlformats.org/officeDocument/2006/relationships/slideMaster" Target="/ppt/slideMasters/slideMaster1.xml" Id="R517724df51884d84" /><Relationship Type="http://schemas.openxmlformats.org/officeDocument/2006/relationships/notesMaster" Target="/ppt/notesMasters/notesMaster1.xml" Id="Re5eb4c44e3214a18" /><Relationship Type="http://schemas.openxmlformats.org/officeDocument/2006/relationships/presProps" Target="/ppt/presProps.xml" Id="R2cabc27a7a314fca" /><Relationship Type="http://schemas.openxmlformats.org/officeDocument/2006/relationships/tableStyles" Target="/ppt/tableStyles.xml" Id="Rcb610d3413804a7c" /><Relationship Type="http://schemas.openxmlformats.org/officeDocument/2006/relationships/slide" Target="/ppt/slides/slide1.xml" Id="R6aaef1a4c25c416d" /><Relationship Type="http://schemas.openxmlformats.org/officeDocument/2006/relationships/slide" Target="/ppt/slides/slide2.xml" Id="R28031f2981c04eae" /><Relationship Type="http://schemas.openxmlformats.org/officeDocument/2006/relationships/slide" Target="/ppt/slides/slide3.xml" Id="Rc93b60785d704acc" /><Relationship Type="http://schemas.openxmlformats.org/officeDocument/2006/relationships/slide" Target="/ppt/slides/slide4.xml" Id="R5ebbb7bf5e5042d9" /><Relationship Type="http://schemas.openxmlformats.org/officeDocument/2006/relationships/slide" Target="/ppt/slides/slide5.xml" Id="R727e3d67d609405c" /><Relationship Type="http://schemas.openxmlformats.org/officeDocument/2006/relationships/slide" Target="/ppt/slides/slide6.xml" Id="R052a4645ef724d99" /><Relationship Type="http://schemas.openxmlformats.org/officeDocument/2006/relationships/slide" Target="/ppt/slides/slide7.xml" Id="R9607e215e7c44f61" /><Relationship Type="http://schemas.openxmlformats.org/officeDocument/2006/relationships/slide" Target="/ppt/slides/slide8.xml" Id="R16cc3a1b028e4e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4b0dc6cae84e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f3f5ff8984732" /><Relationship Type="http://schemas.openxmlformats.org/officeDocument/2006/relationships/notesMaster" Target="/ppt/notesMasters/notesMaster1.xml" Id="R3c73d09b5da644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022a47824f477e" /><Relationship Type="http://schemas.openxmlformats.org/officeDocument/2006/relationships/notesMaster" Target="/ppt/notesMasters/notesMaster1.xml" Id="Rb0b4b49d5f334f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eaa98c23243e6" /><Relationship Type="http://schemas.openxmlformats.org/officeDocument/2006/relationships/notesMaster" Target="/ppt/notesMasters/notesMaster1.xml" Id="R66a28ec62d9440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e2359f186a43e3" /><Relationship Type="http://schemas.openxmlformats.org/officeDocument/2006/relationships/notesMaster" Target="/ppt/notesMasters/notesMaster1.xml" Id="R22bc648e30de4a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c8e7e12dac4c63" /><Relationship Type="http://schemas.openxmlformats.org/officeDocument/2006/relationships/notesMaster" Target="/ppt/notesMasters/notesMaster1.xml" Id="R5976cccbf605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b3a524e61a4078" /><Relationship Type="http://schemas.openxmlformats.org/officeDocument/2006/relationships/notesMaster" Target="/ppt/notesMasters/notesMaster1.xml" Id="R8b89edd702d44e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9dae8bab45419d" /><Relationship Type="http://schemas.openxmlformats.org/officeDocument/2006/relationships/notesMaster" Target="/ppt/notesMasters/notesMaster1.xml" Id="R3322d353610640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fd12bdbd414176" /><Relationship Type="http://schemas.openxmlformats.org/officeDocument/2006/relationships/notesMaster" Target="/ppt/notesMasters/notesMaster1.xml" Id="Ra2be6a4ab01c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a6e1f25d643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505ff1da55466f" /><Relationship Type="http://schemas.openxmlformats.org/officeDocument/2006/relationships/slideLayout" Target="/ppt/slideLayouts/slideLayout1.xml" Id="Rfa3ff82d66ff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3ff82d66ff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3e3fd58184878" /><Relationship Type="http://schemas.openxmlformats.org/officeDocument/2006/relationships/notesSlide" Target="/ppt/notesSlides/notesSlide1.xml" Id="R8b4f2ee7ee2c49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dd854f64f4b6d" /><Relationship Type="http://schemas.openxmlformats.org/officeDocument/2006/relationships/notesSlide" Target="/ppt/notesSlides/notesSlide2.xml" Id="R5ddf285b84034b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8ccbcc49048f1" /><Relationship Type="http://schemas.openxmlformats.org/officeDocument/2006/relationships/notesSlide" Target="/ppt/notesSlides/notesSlide3.xml" Id="Re7cc773a4b9542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a96ca5b2244a4" /><Relationship Type="http://schemas.openxmlformats.org/officeDocument/2006/relationships/notesSlide" Target="/ppt/notesSlides/notesSlide4.xml" Id="Ra3df4175a21845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c4c9f75ca45ed" /><Relationship Type="http://schemas.openxmlformats.org/officeDocument/2006/relationships/notesSlide" Target="/ppt/notesSlides/notesSlide5.xml" Id="R90a4db1310f54a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7befd78044731" /><Relationship Type="http://schemas.openxmlformats.org/officeDocument/2006/relationships/notesSlide" Target="/ppt/notesSlides/notesSlide6.xml" Id="R2ae377a8e90a41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301da43a1475a" /><Relationship Type="http://schemas.openxmlformats.org/officeDocument/2006/relationships/notesSlide" Target="/ppt/notesSlides/notesSlide7.xml" Id="Ra5460cd2cfa24a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ca16fb4a04b35" /><Relationship Type="http://schemas.openxmlformats.org/officeDocument/2006/relationships/notesSlide" Target="/ppt/notesSlides/notesSlide8.xml" Id="R016ad03b1ad94d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9996C41-3DBE-4A6D-AD01-129A3464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F1BC140-9B8A-48DF-BCBA-2DD76818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HYDRAULIC EROSION</a:t>
            </a:r>
          </a:p>
        </p:txBody>
      </p:sp>
      <p:sp>
        <p:nvSpPr>
          <p:cNvPr id="3" name="cover-stack">
            <a:extLst xmlns:a="http://schemas.openxmlformats.org/drawingml/2006/main">
              <a:ext uri="{FF2B5EF4-FFF2-40B4-BE49-F238E27FC236}">
                <a16:creationId xmlns:a16="http://schemas.microsoft.com/office/drawing/2014/main" id="{20108259-B8E9-4B8D-85C4-F80C070B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VULKAN  ·  C++  ·  REALTIME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1A8A90D-65B8-4AF8-8D34-AD84885B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98107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Droplet-Driven 3D
Terrain Erosion Simulator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9B101AD2-2F10-4625-BD2F-A1C0CEE2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876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Phases 1–5: physics, realtime particles, dynamic terrain,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199823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">
            <a:extLst xmlns:a="http://schemas.openxmlformats.org/drawingml/2006/main">
              <a:ext uri="{FF2B5EF4-FFF2-40B4-BE49-F238E27FC236}">
                <a16:creationId xmlns:a16="http://schemas.microsoft.com/office/drawing/2014/main" id="{D8EA910C-2994-4AEF-BFB5-F288AAA9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 visible erosion process—not a static result</a:t>
            </a:r>
          </a:p>
        </p:txBody>
      </p:sp>
      <p:sp>
        <p:nvSpPr>
          <p:cNvPr id="2" name="s2-intro">
            <a:extLst xmlns:a="http://schemas.openxmlformats.org/drawingml/2006/main">
              <a:ext uri="{FF2B5EF4-FFF2-40B4-BE49-F238E27FC236}">
                <a16:creationId xmlns:a16="http://schemas.microsoft.com/office/drawing/2014/main" id="{25509A13-784C-421C-BA7E-11EC95CA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Each droplet spawns at a random position, follows the local slope, and directly modifies the height field while the renderer continuously rebuilds the terrain.</a:t>
            </a:r>
          </a:p>
        </p:txBody>
      </p:sp>
      <p:sp>
        <p:nvSpPr>
          <p:cNvPr id="3" name="static-card">
            <a:extLst xmlns:a="http://schemas.openxmlformats.org/drawingml/2006/main">
              <a:ext uri="{FF2B5EF4-FFF2-40B4-BE49-F238E27FC236}">
                <a16:creationId xmlns:a16="http://schemas.microsoft.com/office/drawing/2014/main" id="{D42B0BCD-AB13-4B3F-8B22-AF1F2ABF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42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dynamic-card">
            <a:extLst xmlns:a="http://schemas.openxmlformats.org/drawingml/2006/main">
              <a:ext uri="{FF2B5EF4-FFF2-40B4-BE49-F238E27FC236}">
                <a16:creationId xmlns:a16="http://schemas.microsoft.com/office/drawing/2014/main" id="{485B8CE3-6929-4AFD-9B33-DE1C2FE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6007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9050">
            <a:solidFill>
              <a:srgbClr val="1570EF"/>
            </a:solidFill>
            <a:prstDash val="solid"/>
          </a:ln>
        </p:spPr>
      </p:sp>
      <p:sp>
        <p:nvSpPr>
          <p:cNvPr id="5" name="static-title">
            <a:extLst xmlns:a="http://schemas.openxmlformats.org/drawingml/2006/main">
              <a:ext uri="{FF2B5EF4-FFF2-40B4-BE49-F238E27FC236}">
                <a16:creationId xmlns:a16="http://schemas.microsoft.com/office/drawing/2014/main" id="{3A57A97C-4FD8-4F43-A0F6-23723F3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32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Static erosion output</a:t>
            </a:r>
          </a:p>
        </p:txBody>
      </p:sp>
      <p:sp>
        <p:nvSpPr>
          <p:cNvPr id="6" name="static-body">
            <a:extLst xmlns:a="http://schemas.openxmlformats.org/drawingml/2006/main">
              <a:ext uri="{FF2B5EF4-FFF2-40B4-BE49-F238E27FC236}">
                <a16:creationId xmlns:a16="http://schemas.microsoft.com/office/drawing/2014/main" id="{ED9E2EA4-38CA-4693-98D0-9416AE6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476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8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6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Only the final heightmap is visible
Individual droplet effects cannot be observed
Parameter changes have no immediate feedback</a:t>
            </a:r>
          </a:p>
        </p:txBody>
      </p:sp>
      <p:sp>
        <p:nvSpPr>
          <p:cNvPr id="7" name="dynamic-title">
            <a:extLst xmlns:a="http://schemas.openxmlformats.org/drawingml/2006/main">
              <a:ext uri="{FF2B5EF4-FFF2-40B4-BE49-F238E27FC236}">
                <a16:creationId xmlns:a16="http://schemas.microsoft.com/office/drawing/2014/main" id="{40ACA8F8-37C5-4B04-B21A-B7AF1451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32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This project: realtime simulation</a:t>
            </a:r>
          </a:p>
        </p:txBody>
      </p:sp>
      <p:sp>
        <p:nvSpPr>
          <p:cNvPr id="8" name="dynamic-body">
            <a:extLst xmlns:a="http://schemas.openxmlformats.org/drawingml/2006/main">
              <a:ext uri="{FF2B5EF4-FFF2-40B4-BE49-F238E27FC236}">
                <a16:creationId xmlns:a16="http://schemas.microsoft.com/office/drawing/2014/main" id="{00728FB7-5AA4-46A0-B07F-D19756D8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6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6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Droplets continuously spawn and move
Erosion, transport, and deposition update together
Terrain, droplets, and pooled water render as 3D meshes</a:t>
            </a:r>
          </a:p>
        </p:txBody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5575BA64-DCE2-4D05-8B6F-A69085A1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5232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">
            <a:extLst xmlns:a="http://schemas.openxmlformats.org/drawingml/2006/main">
              <a:ext uri="{FF2B5EF4-FFF2-40B4-BE49-F238E27FC236}">
                <a16:creationId xmlns:a16="http://schemas.microsoft.com/office/drawing/2014/main" id="{E5009331-2DB2-4969-A50A-080E71BB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3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Each droplet closes the feedback loop in three stages</a:t>
            </a:r>
          </a:p>
        </p:txBody>
      </p:sp>
      <p:cxnSp>
        <p:nvCxnSpPr>
          <p:cNvPr id="17" name="physics-connector"/>
          <p:cNvCxnSpPr/>
          <p:nvPr/>
        </p:nvCxnSpPr>
        <p:spPr>
          <a:xfrm xmlns:a="http://schemas.openxmlformats.org/drawingml/2006/main">
            <a:off x="762000" y="3048000"/>
            <a:ext cx="100965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70EF"/>
            </a:solidFill>
            <a:prstDash val="solid"/>
          </a:ln>
        </p:spPr>
      </p:cxnSp>
      <p:sp>
        <p:nvSpPr>
          <p:cNvPr id="3" name="physics-node-1">
            <a:extLst xmlns:a="http://schemas.openxmlformats.org/drawingml/2006/main">
              <a:ext uri="{FF2B5EF4-FFF2-40B4-BE49-F238E27FC236}">
                <a16:creationId xmlns:a16="http://schemas.microsoft.com/office/drawing/2014/main" id="{B856A494-7583-4FED-85C2-CD08635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4" name="physics-node-2">
            <a:extLst xmlns:a="http://schemas.openxmlformats.org/drawingml/2006/main">
              <a:ext uri="{FF2B5EF4-FFF2-40B4-BE49-F238E27FC236}">
                <a16:creationId xmlns:a16="http://schemas.microsoft.com/office/drawing/2014/main" id="{822F7768-4E51-42CE-BD5E-E072AEF9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5" name="physics-node-3">
            <a:extLst xmlns:a="http://schemas.openxmlformats.org/drawingml/2006/main">
              <a:ext uri="{FF2B5EF4-FFF2-40B4-BE49-F238E27FC236}">
                <a16:creationId xmlns:a16="http://schemas.microsoft.com/office/drawing/2014/main" id="{DFDBB905-075A-4DAA-BA8E-20BBE001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6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33DD9919-5581-44FA-8B8F-9477CF36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01  SAMPLE &amp; MOVE</a:t>
            </a:r>
          </a:p>
        </p:txBody>
      </p:sp>
      <p:sp>
        <p:nvSpPr>
          <p:cNvPr id="7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7B9BA560-F90B-412E-96C8-AA0AC52C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02  ERODE OR DEPOSIT</a:t>
            </a:r>
          </a:p>
        </p:txBody>
      </p:sp>
      <p:sp>
        <p:nvSpPr>
          <p:cNvPr id="8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E6D3E460-B07C-4D60-A2C3-CE46F212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03  UPDATE &amp; TERMINATE</a:t>
            </a:r>
          </a:p>
        </p:txBody>
      </p:sp>
      <p:sp>
        <p:nvSpPr>
          <p:cNvPr id="9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A28D41B8-0C76-4D29-BD84-14E6B08B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Height and gradient</a:t>
            </a:r>
          </a:p>
        </p:txBody>
      </p:sp>
      <p:sp>
        <p:nvSpPr>
          <p:cNvPr id="10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5A1BADE6-2C13-4E5F-9030-3B650561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Bilinear sampling reads local height; inertia and the negative gradient determine direction.</a:t>
            </a:r>
          </a:p>
        </p:txBody>
      </p:sp>
      <p:sp>
        <p:nvSpPr>
          <p:cNvPr id="11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4643D63F-B67F-4308-A670-E9304A6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Sediment capacity</a:t>
            </a:r>
          </a:p>
        </p:txBody>
      </p:sp>
      <p:sp>
        <p:nvSpPr>
          <p:cNvPr id="12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23824541-8349-422A-9BD1-83868034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Low capacity triggers deposition; spare capacity erodes terrain with a radius-weighted brush.</a:t>
            </a:r>
          </a:p>
        </p:txBody>
      </p:sp>
      <p:sp>
        <p:nvSpPr>
          <p:cNvPr id="13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0644553B-E5ED-4F8B-9657-430A5D46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1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Speed, water, and lifetime</a:t>
            </a:r>
          </a:p>
        </p:txBody>
      </p:sp>
      <p:sp>
        <p:nvSpPr>
          <p:cNvPr id="14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A576B2DB-C5AB-4E37-B9DD-E217CAFA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5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Gravity updates speed, evaporation reduces water, and boundary, lifetime, or stalling conditions end the droplet.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3CEE35F0-33D8-4FAD-B52C-C7E856E3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21449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">
            <a:extLst xmlns:a="http://schemas.openxmlformats.org/drawingml/2006/main">
              <a:ext uri="{FF2B5EF4-FFF2-40B4-BE49-F238E27FC236}">
                <a16:creationId xmlns:a16="http://schemas.microsoft.com/office/drawing/2014/main" id="{C58BB676-CE7C-48D3-A6C5-BCB8666A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39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Three layers keep the simulator testable</a:t>
            </a:r>
          </a:p>
        </p:txBody>
      </p:sp>
      <p:sp>
        <p:nvSpPr>
          <p:cNvPr id="2" name="s4-claim">
            <a:extLst xmlns:a="http://schemas.openxmlformats.org/drawingml/2006/main">
              <a:ext uri="{FF2B5EF4-FFF2-40B4-BE49-F238E27FC236}">
                <a16:creationId xmlns:a16="http://schemas.microsoft.com/office/drawing/2014/main" id="{E338E3C6-01E4-4704-BC77-E5323860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0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The CPU runs deterministic physics; Vulkan efficiently displays continuously changing data.</a:t>
            </a:r>
          </a:p>
        </p:txBody>
      </p:sp>
      <p:sp>
        <p:nvSpPr>
          <p:cNvPr id="3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0F1C4457-FC78-4145-AAE8-492A8F8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4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5B574503-EFA0-4E45-9DF4-F7933FC2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23F4A2DF-1B31-407E-B7D8-04039441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6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5F973E1C-276F-4188-80E9-5F078911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Physics core</a:t>
            </a:r>
          </a:p>
        </p:txBody>
      </p:sp>
      <p:sp>
        <p:nvSpPr>
          <p:cNvPr id="7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078C982A-7866-4A37-812F-99F5F3B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Bilinear HeightField sampling
Droplet state at a fixed 60 Hz
Erosion, deposition, evaporation, and pooling</a:t>
            </a:r>
          </a:p>
        </p:txBody>
      </p:sp>
      <p:sp>
        <p:nvSpPr>
          <p:cNvPr id="8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4D860766-46C1-4350-9FDE-A61B1A56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Mesh generation</a:t>
            </a:r>
          </a:p>
        </p:txBody>
      </p:sp>
      <p:sp>
        <p:nvSpPr>
          <p:cNvPr id="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1C0B2CD1-B205-4A74-BD79-6795F6AE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Terrain vertices and normals
Droplet geometry construction
Continuous 3D pooled-water surface</a:t>
            </a:r>
          </a:p>
        </p:txBody>
      </p:sp>
      <p:sp>
        <p:nvSpPr>
          <p:cNvPr id="10" name="layer-3-title">
            <a:extLst xmlns:a="http://schemas.openxmlformats.org/drawingml/2006/main">
              <a:ext uri="{FF2B5EF4-FFF2-40B4-BE49-F238E27FC236}">
                <a16:creationId xmlns:a16="http://schemas.microsoft.com/office/drawing/2014/main" id="{4560DED6-DBAB-4B9C-8691-5E346010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Vulkan presentation</a:t>
            </a:r>
          </a:p>
        </p:txBody>
      </p:sp>
      <p:sp>
        <p:nvSpPr>
          <p:cNvPr id="11" name="layer-3-body">
            <a:extLst xmlns:a="http://schemas.openxmlformats.org/drawingml/2006/main">
              <a:ext uri="{FF2B5EF4-FFF2-40B4-BE49-F238E27FC236}">
                <a16:creationId xmlns:a16="http://schemas.microsoft.com/office/drawing/2014/main" id="{9F847F5F-63EE-49EF-9A83-BD4139AE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Indexed terrain mesh rendering
Continuous dynamic vertex uploads
ImGui controls and realtime feedback</a:t>
            </a:r>
          </a:p>
        </p:txBody>
      </p:sp>
      <p:sp>
        <p:nvSpPr>
          <p:cNvPr id="12" name="footer-4">
            <a:extLst xmlns:a="http://schemas.openxmlformats.org/drawingml/2006/main">
              <a:ext uri="{FF2B5EF4-FFF2-40B4-BE49-F238E27FC236}">
                <a16:creationId xmlns:a16="http://schemas.microsoft.com/office/drawing/2014/main" id="{22926927-8CD4-41EE-A90F-18678E13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3775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">
            <a:extLst xmlns:a="http://schemas.openxmlformats.org/drawingml/2006/main">
              <a:ext uri="{FF2B5EF4-FFF2-40B4-BE49-F238E27FC236}">
                <a16:creationId xmlns:a16="http://schemas.microsoft.com/office/drawing/2014/main" id="{783E46A2-5702-44D0-ADF1-F173802C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6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Mouse mode separates camera control from UI editing</a:t>
            </a:r>
          </a:p>
        </p:txBody>
      </p:sp>
      <p:sp>
        <p:nvSpPr>
          <p:cNvPr id="2" name="s5-callout">
            <a:extLst xmlns:a="http://schemas.openxmlformats.org/drawingml/2006/main">
              <a:ext uri="{FF2B5EF4-FFF2-40B4-BE49-F238E27FC236}">
                <a16:creationId xmlns:a16="http://schemas.microsoft.com/office/drawing/2014/main" id="{3598C1F3-CEFC-432E-8DE8-12DFB612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381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Right-click switches
interaction mode</a:t>
            </a:r>
          </a:p>
        </p:txBody>
      </p:sp>
      <p:sp>
        <p:nvSpPr>
          <p:cNvPr id="3" name="s5-body">
            <a:extLst xmlns:a="http://schemas.openxmlformats.org/drawingml/2006/main">
              <a:ext uri="{FF2B5EF4-FFF2-40B4-BE49-F238E27FC236}">
                <a16:creationId xmlns:a16="http://schemas.microsoft.com/office/drawing/2014/main" id="{AC9B3B1A-3D92-4F67-9CA4-1B440605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spcAft>
                <a:spcPts val="0"/>
              </a:spcAft>
              <a:buNone/>
              <a:defRPr sz="17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With the cursor hidden, the camera orbits the terrain center. With the cursor visible, camera control stops and the UI takes focus. Parameter changes affect subsequent simulation steps immediately.</a:t>
            </a:r>
          </a:p>
        </p:txBody>
      </p:sp>
      <p:sp>
        <p:nvSpPr>
          <p:cNvPr id="4" name="check-1">
            <a:extLst xmlns:a="http://schemas.openxmlformats.org/drawingml/2006/main">
              <a:ext uri="{FF2B5EF4-FFF2-40B4-BE49-F238E27FC236}">
                <a16:creationId xmlns:a16="http://schemas.microsoft.com/office/drawing/2014/main" id="{0E893BAF-93D1-449A-87D9-4E974F5B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✓  Right-click: show / hide cursor</a:t>
            </a:r>
          </a:p>
        </p:txBody>
      </p:sp>
      <p:sp>
        <p:nvSpPr>
          <p:cNvPr id="5" name="check-2">
            <a:extLst xmlns:a="http://schemas.openxmlformats.org/drawingml/2006/main">
              <a:ext uri="{FF2B5EF4-FFF2-40B4-BE49-F238E27FC236}">
                <a16:creationId xmlns:a16="http://schemas.microsoft.com/office/drawing/2014/main" id="{D612CD2E-C2E5-4D55-922F-4953648D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Mouse movement: orbit the terrain</a:t>
            </a:r>
          </a:p>
        </p:txBody>
      </p:sp>
      <p:sp>
        <p:nvSpPr>
          <p:cNvPr id="6" name="check-3">
            <a:extLst xmlns:a="http://schemas.openxmlformats.org/drawingml/2006/main">
              <a:ext uri="{FF2B5EF4-FFF2-40B4-BE49-F238E27FC236}">
                <a16:creationId xmlns:a16="http://schemas.microsoft.com/office/drawing/2014/main" id="{5E94E76C-4D50-438C-A97C-B09393A1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Wheel: change viewing distance</a:t>
            </a:r>
          </a:p>
        </p:txBody>
      </p:sp>
      <p:sp>
        <p:nvSpPr>
          <p:cNvPr id="7" name="check-4">
            <a:extLst xmlns:a="http://schemas.openxmlformats.org/drawingml/2006/main">
              <a:ext uri="{FF2B5EF4-FFF2-40B4-BE49-F238E27FC236}">
                <a16:creationId xmlns:a16="http://schemas.microsoft.com/office/drawing/2014/main" id="{C898EF77-1D95-40B2-8105-395ED8C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UI: rainfall, erosion, and settling</a:t>
            </a:r>
          </a:p>
        </p:txBody>
      </p:sp>
      <p:sp>
        <p:nvSpPr>
          <p:cNvPr id="8" name="check-5">
            <a:extLst xmlns:a="http://schemas.openxmlformats.org/drawingml/2006/main">
              <a:ext uri="{FF2B5EF4-FFF2-40B4-BE49-F238E27FC236}">
                <a16:creationId xmlns:a16="http://schemas.microsoft.com/office/drawing/2014/main" id="{D56BB2B4-4B51-4CD1-B251-30E9DE4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Reset: restore terrain, water, and droplets</a:t>
            </a:r>
          </a:p>
        </p:txBody>
      </p:sp>
      <p:sp>
        <p:nvSpPr>
          <p:cNvPr id="9" name="footer-5">
            <a:extLst xmlns:a="http://schemas.openxmlformats.org/drawingml/2006/main">
              <a:ext uri="{FF2B5EF4-FFF2-40B4-BE49-F238E27FC236}">
                <a16:creationId xmlns:a16="http://schemas.microsoft.com/office/drawing/2014/main" id="{D01F2CFC-E9BD-4E6F-8A18-01AEE659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8055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kicker">
            <a:extLst xmlns:a="http://schemas.openxmlformats.org/drawingml/2006/main">
              <a:ext uri="{FF2B5EF4-FFF2-40B4-BE49-F238E27FC236}">
                <a16:creationId xmlns:a16="http://schemas.microsoft.com/office/drawing/2014/main" id="{C93E98B7-1C29-4241-A424-B8CA032A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CURRENT OUTCOME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0CB3D680-2B74-4BBE-B58C-67843BF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620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51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Phases 1–5
form a demonstrable loop</a:t>
            </a:r>
          </a:p>
        </p:txBody>
      </p:sp>
      <p:sp>
        <p:nvSpPr>
          <p:cNvPr id="3" name="s6-done">
            <a:extLst xmlns:a="http://schemas.openxmlformats.org/drawingml/2006/main">
              <a:ext uri="{FF2B5EF4-FFF2-40B4-BE49-F238E27FC236}">
                <a16:creationId xmlns:a16="http://schemas.microsoft.com/office/drawing/2014/main" id="{CC16AE5B-A858-4655-959A-E9F4F6FD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Implemented | input, droplet physics, dynamic erosion, 3D water, and interaction</a:t>
            </a:r>
          </a:p>
        </p:txBody>
      </p:sp>
      <p:sp>
        <p:nvSpPr>
          <p:cNvPr id="4" name="s6-verified">
            <a:extLst xmlns:a="http://schemas.openxmlformats.org/drawingml/2006/main">
              <a:ext uri="{FF2B5EF4-FFF2-40B4-BE49-F238E27FC236}">
                <a16:creationId xmlns:a16="http://schemas.microsoft.com/office/drawing/2014/main" id="{5BBBE85C-082F-43F3-8665-8B80E37E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Validated | fixed seeds, branch coverage, lifetime limits, and mass conservation</a:t>
            </a:r>
          </a:p>
        </p:txBody>
      </p:sp>
      <p:sp>
        <p:nvSpPr>
          <p:cNvPr id="5" name="s6-next">
            <a:extLst xmlns:a="http://schemas.openxmlformats.org/drawingml/2006/main">
              <a:ext uri="{FF2B5EF4-FFF2-40B4-BE49-F238E27FC236}">
                <a16:creationId xmlns:a16="http://schemas.microsoft.com/office/drawing/2014/main" id="{68D009A7-4031-42D8-8070-38603F4B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Next | Phases 6–8: tuning, benchmarking, writing, and finalization</a:t>
            </a:r>
          </a:p>
        </p:txBody>
      </p:sp>
    </p:spTree>
    <p:extLst>
      <p:ext uri="{BB962C8B-B14F-4D97-AF65-F5344CB8AC3E}">
        <p14:creationId xmlns:p14="http://schemas.microsoft.com/office/powerpoint/2010/main" val="1784518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kicker">
            <a:extLst xmlns:a="http://schemas.openxmlformats.org/drawingml/2006/main">
              <a:ext uri="{FF2B5EF4-FFF2-40B4-BE49-F238E27FC236}">
                <a16:creationId xmlns:a16="http://schemas.microsoft.com/office/drawing/2014/main" id="{6D4211F5-E20F-4F06-AD3B-F97E1AB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FUTURE WORK  |  JUL 13–31, 2026</a:t>
            </a:r>
          </a:p>
        </p:txBody>
      </p:sp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BF78D6CB-A411-4199-B4D4-57E56739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Next: tuning, profiling, and benchmarking</a:t>
            </a:r>
          </a:p>
        </p:txBody>
      </p:sp>
      <p:sp>
        <p:nvSpPr>
          <p:cNvPr id="3" name="s7-claim">
            <a:extLst xmlns:a="http://schemas.openxmlformats.org/drawingml/2006/main">
              <a:ext uri="{FF2B5EF4-FFF2-40B4-BE49-F238E27FC236}">
                <a16:creationId xmlns:a16="http://schemas.microsoft.com/office/drawing/2014/main" id="{FA6E1878-873D-45BE-A5BB-D945F693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Phase 6 exposes the simulation for controlled experiments; Phase 7 establishes the CPU-versus-GPU benchmark.</a:t>
            </a:r>
          </a:p>
        </p:txBody>
      </p:sp>
      <p:sp>
        <p:nvSpPr>
          <p:cNvPr id="4" name="s7-phase6-accent">
            <a:extLst xmlns:a="http://schemas.openxmlformats.org/drawingml/2006/main">
              <a:ext uri="{FF2B5EF4-FFF2-40B4-BE49-F238E27FC236}">
                <a16:creationId xmlns:a16="http://schemas.microsoft.com/office/drawing/2014/main" id="{F9CB0630-E050-4BF9-929E-4AC113EE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5" name="s7-phase6">
            <a:extLst xmlns:a="http://schemas.openxmlformats.org/drawingml/2006/main">
              <a:ext uri="{FF2B5EF4-FFF2-40B4-BE49-F238E27FC236}">
                <a16:creationId xmlns:a16="http://schemas.microsoft.com/office/drawing/2014/main" id="{B669D73D-E89F-4C4D-9DDC-8E6DD181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PHASE 6  ·  TUNING &amp; GUI</a:t>
            </a:r>
          </a:p>
        </p:txBody>
      </p:sp>
      <p:sp>
        <p:nvSpPr>
          <p:cNvPr id="6" name="s7-task1-date">
            <a:extLst xmlns:a="http://schemas.openxmlformats.org/drawingml/2006/main">
              <a:ext uri="{FF2B5EF4-FFF2-40B4-BE49-F238E27FC236}">
                <a16:creationId xmlns:a16="http://schemas.microsoft.com/office/drawing/2014/main" id="{D17F2B0F-38B3-4295-ACEC-0C7E8814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JUL 13–24</a:t>
            </a:r>
          </a:p>
        </p:txBody>
      </p:sp>
      <p:sp>
        <p:nvSpPr>
          <p:cNvPr id="7" name="s7-task1">
            <a:extLst xmlns:a="http://schemas.openxmlformats.org/drawingml/2006/main">
              <a:ext uri="{FF2B5EF4-FFF2-40B4-BE49-F238E27FC236}">
                <a16:creationId xmlns:a16="http://schemas.microsoft.com/office/drawing/2014/main" id="{A15DEA28-8D70-401E-95D5-B1EBE82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71850"/>
            <a:ext cx="3714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9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GUI integration and parameter exposure</a:t>
            </a:r>
          </a:p>
        </p:txBody>
      </p:sp>
      <p:sp>
        <p:nvSpPr>
          <p:cNvPr id="8" name="s7-task2-date">
            <a:extLst xmlns:a="http://schemas.openxmlformats.org/drawingml/2006/main">
              <a:ext uri="{FF2B5EF4-FFF2-40B4-BE49-F238E27FC236}">
                <a16:creationId xmlns:a16="http://schemas.microsoft.com/office/drawing/2014/main" id="{A06646C1-782D-483C-954B-5D78796A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JUL 23–24</a:t>
            </a:r>
          </a:p>
        </p:txBody>
      </p:sp>
      <p:sp>
        <p:nvSpPr>
          <p:cNvPr id="9" name="s7-task2">
            <a:extLst xmlns:a="http://schemas.openxmlformats.org/drawingml/2006/main">
              <a:ext uri="{FF2B5EF4-FFF2-40B4-BE49-F238E27FC236}">
                <a16:creationId xmlns:a16="http://schemas.microsoft.com/office/drawing/2014/main" id="{47DB6346-4E99-4FF6-98B3-8471AB8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05300"/>
            <a:ext cx="371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9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Parameter presets and CPU profiling baseline</a:t>
            </a:r>
          </a:p>
        </p:txBody>
      </p:sp>
      <p:sp>
        <p:nvSpPr>
          <p:cNvPr id="10" name="s7-phase7-accent">
            <a:extLst xmlns:a="http://schemas.openxmlformats.org/drawingml/2006/main">
              <a:ext uri="{FF2B5EF4-FFF2-40B4-BE49-F238E27FC236}">
                <a16:creationId xmlns:a16="http://schemas.microsoft.com/office/drawing/2014/main" id="{941468E3-28F1-47B3-A928-C7429AB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11" name="s7-phase7">
            <a:extLst xmlns:a="http://schemas.openxmlformats.org/drawingml/2006/main">
              <a:ext uri="{FF2B5EF4-FFF2-40B4-BE49-F238E27FC236}">
                <a16:creationId xmlns:a16="http://schemas.microsoft.com/office/drawing/2014/main" id="{E152F446-AAD7-436F-9948-57B90543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PHASE 7  ·  DATA &amp; BENCHMARK</a:t>
            </a:r>
          </a:p>
        </p:txBody>
      </p:sp>
      <p:sp>
        <p:nvSpPr>
          <p:cNvPr id="12" name="s7-task3-date">
            <a:extLst xmlns:a="http://schemas.openxmlformats.org/drawingml/2006/main">
              <a:ext uri="{FF2B5EF4-FFF2-40B4-BE49-F238E27FC236}">
                <a16:creationId xmlns:a16="http://schemas.microsoft.com/office/drawing/2014/main" id="{16D48765-7208-4C0B-B0DE-ED316F94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290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JUL 27–31</a:t>
            </a:r>
          </a:p>
        </p:txBody>
      </p:sp>
      <p:sp>
        <p:nvSpPr>
          <p:cNvPr id="13" name="s7-task3">
            <a:extLst xmlns:a="http://schemas.openxmlformats.org/drawingml/2006/main">
              <a:ext uri="{FF2B5EF4-FFF2-40B4-BE49-F238E27FC236}">
                <a16:creationId xmlns:a16="http://schemas.microsoft.com/office/drawing/2014/main" id="{A3D631E5-B805-44BA-BEA0-C13F035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Benchmark CPU vs GPU</a:t>
            </a:r>
          </a:p>
        </p:txBody>
      </p:sp>
      <p:sp>
        <p:nvSpPr>
          <p:cNvPr id="14" name="s7-output">
            <a:extLst xmlns:a="http://schemas.openxmlformats.org/drawingml/2006/main">
              <a:ext uri="{FF2B5EF4-FFF2-40B4-BE49-F238E27FC236}">
                <a16:creationId xmlns:a16="http://schemas.microsoft.com/office/drawing/2014/main" id="{6E405B82-C103-48FF-9514-262EB160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7200"/>
            <a:ext cx="4476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Output: comparable performance data for the final results section.</a:t>
            </a:r>
          </a:p>
        </p:txBody>
      </p:sp>
      <p:sp>
        <p:nvSpPr>
          <p:cNvPr id="15" name="footer-7">
            <a:extLst xmlns:a="http://schemas.openxmlformats.org/drawingml/2006/main">
              <a:ext uri="{FF2B5EF4-FFF2-40B4-BE49-F238E27FC236}">
                <a16:creationId xmlns:a16="http://schemas.microsoft.com/office/drawing/2014/main" id="{3C746AB2-0B5B-47C5-B64E-97078B87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86347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kicker">
            <a:extLst xmlns:a="http://schemas.openxmlformats.org/drawingml/2006/main">
              <a:ext uri="{FF2B5EF4-FFF2-40B4-BE49-F238E27FC236}">
                <a16:creationId xmlns:a16="http://schemas.microsoft.com/office/drawing/2014/main" id="{3887E312-45F9-4AB7-B7CC-EA16848D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FUTURE WORK  |  AUG 3–28, 2026</a:t>
            </a:r>
          </a:p>
        </p:txBody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29EB45DF-B6FE-4D2E-839F-FAC6419A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04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Phase 8 completes the final submission</a:t>
            </a:r>
          </a:p>
        </p:txBody>
      </p:sp>
      <p:sp>
        <p:nvSpPr>
          <p:cNvPr id="3" name="s8-claim">
            <a:extLst xmlns:a="http://schemas.openxmlformats.org/drawingml/2006/main">
              <a:ext uri="{FF2B5EF4-FFF2-40B4-BE49-F238E27FC236}">
                <a16:creationId xmlns:a16="http://schemas.microsoft.com/office/drawing/2014/main" id="{C5A65DF3-0165-4E73-B5E9-0A742DF3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The writing sequence follows the implementation evidence: literature, method, results, and final review.</a:t>
            </a:r>
          </a:p>
        </p:txBody>
      </p:sp>
      <p:cxnSp>
        <p:nvCxnSpPr>
          <p:cNvPr id="25" name="s8-timeline"/>
          <p:cNvCxnSpPr/>
          <p:nvPr/>
        </p:nvCxnSpPr>
        <p:spPr>
          <a:xfrm xmlns:a="http://schemas.openxmlformats.org/drawingml/2006/main">
            <a:off x="1238250" y="2781300"/>
            <a:ext cx="286" cy="2781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70EF"/>
            </a:solidFill>
            <a:prstDash val="solid"/>
          </a:ln>
        </p:spPr>
      </p:cxnSp>
      <p:sp>
        <p:nvSpPr>
          <p:cNvPr id="5" name="s8-node-1">
            <a:extLst xmlns:a="http://schemas.openxmlformats.org/drawingml/2006/main">
              <a:ext uri="{FF2B5EF4-FFF2-40B4-BE49-F238E27FC236}">
                <a16:creationId xmlns:a16="http://schemas.microsoft.com/office/drawing/2014/main" id="{6ED1CE20-3844-470C-B4EB-40CA8580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19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6" name="s8-node-2">
            <a:extLst xmlns:a="http://schemas.openxmlformats.org/drawingml/2006/main">
              <a:ext uri="{FF2B5EF4-FFF2-40B4-BE49-F238E27FC236}">
                <a16:creationId xmlns:a16="http://schemas.microsoft.com/office/drawing/2014/main" id="{F92346B3-AB45-4FDE-AE00-35B43D1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09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7" name="s8-node-3">
            <a:extLst xmlns:a="http://schemas.openxmlformats.org/drawingml/2006/main">
              <a:ext uri="{FF2B5EF4-FFF2-40B4-BE49-F238E27FC236}">
                <a16:creationId xmlns:a16="http://schemas.microsoft.com/office/drawing/2014/main" id="{70931893-3F48-4EAE-B6CB-E23910C6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00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8" name="s8-node-4">
            <a:extLst xmlns:a="http://schemas.openxmlformats.org/drawingml/2006/main">
              <a:ext uri="{FF2B5EF4-FFF2-40B4-BE49-F238E27FC236}">
                <a16:creationId xmlns:a16="http://schemas.microsoft.com/office/drawing/2014/main" id="{C4BDE139-C03D-41DA-98DC-62C123D2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91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9" name="s8-node-5">
            <a:extLst xmlns:a="http://schemas.openxmlformats.org/drawingml/2006/main">
              <a:ext uri="{FF2B5EF4-FFF2-40B4-BE49-F238E27FC236}">
                <a16:creationId xmlns:a16="http://schemas.microsoft.com/office/drawing/2014/main" id="{834425D6-7112-4D54-8DCD-FE66411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81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10" name="s8-date-1">
            <a:extLst xmlns:a="http://schemas.openxmlformats.org/drawingml/2006/main">
              <a:ext uri="{FF2B5EF4-FFF2-40B4-BE49-F238E27FC236}">
                <a16:creationId xmlns:a16="http://schemas.microsoft.com/office/drawing/2014/main" id="{A2103094-9118-48C8-8BF6-F45EB16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14763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AUG 3–7</a:t>
            </a:r>
          </a:p>
        </p:txBody>
      </p:sp>
      <p:sp>
        <p:nvSpPr>
          <p:cNvPr id="11" name="s8-task-1">
            <a:extLst xmlns:a="http://schemas.openxmlformats.org/drawingml/2006/main">
              <a:ext uri="{FF2B5EF4-FFF2-40B4-BE49-F238E27FC236}">
                <a16:creationId xmlns:a16="http://schemas.microsoft.com/office/drawing/2014/main" id="{B601703B-71F5-418E-B537-DD2C30A9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95575"/>
            <a:ext cx="781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Outline and synthesize literature</a:t>
            </a:r>
          </a:p>
        </p:txBody>
      </p:sp>
      <p:sp>
        <p:nvSpPr>
          <p:cNvPr id="12" name="s8-date-2">
            <a:extLst xmlns:a="http://schemas.openxmlformats.org/drawingml/2006/main">
              <a:ext uri="{FF2B5EF4-FFF2-40B4-BE49-F238E27FC236}">
                <a16:creationId xmlns:a16="http://schemas.microsoft.com/office/drawing/2014/main" id="{BDDF060B-8EBE-4CB7-9FE2-160F1D82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14763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AUG 7–14</a:t>
            </a:r>
          </a:p>
        </p:txBody>
      </p:sp>
      <p:sp>
        <p:nvSpPr>
          <p:cNvPr id="13" name="s8-task-2">
            <a:extLst xmlns:a="http://schemas.openxmlformats.org/drawingml/2006/main">
              <a:ext uri="{FF2B5EF4-FFF2-40B4-BE49-F238E27FC236}">
                <a16:creationId xmlns:a16="http://schemas.microsoft.com/office/drawing/2014/main" id="{4C619D78-3AED-4DF3-923C-27922EC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86125"/>
            <a:ext cx="781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Write Introduction and Related Work</a:t>
            </a:r>
          </a:p>
        </p:txBody>
      </p:sp>
      <p:sp>
        <p:nvSpPr>
          <p:cNvPr id="14" name="s8-date-3">
            <a:extLst xmlns:a="http://schemas.openxmlformats.org/drawingml/2006/main">
              <a:ext uri="{FF2B5EF4-FFF2-40B4-BE49-F238E27FC236}">
                <a16:creationId xmlns:a16="http://schemas.microsoft.com/office/drawing/2014/main" id="{7275ACCF-73ED-43E3-9A48-ECD2EEE9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14763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AUG 14–21</a:t>
            </a:r>
          </a:p>
        </p:txBody>
      </p:sp>
      <p:sp>
        <p:nvSpPr>
          <p:cNvPr id="15" name="s8-task-3">
            <a:extLst xmlns:a="http://schemas.openxmlformats.org/drawingml/2006/main">
              <a:ext uri="{FF2B5EF4-FFF2-40B4-BE49-F238E27FC236}">
                <a16:creationId xmlns:a16="http://schemas.microsoft.com/office/drawing/2014/main" id="{72E0F0CA-FAF5-436A-8638-EBB056E9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76675"/>
            <a:ext cx="781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Write Algorithm, Mathematics and GPU section</a:t>
            </a:r>
          </a:p>
        </p:txBody>
      </p:sp>
      <p:sp>
        <p:nvSpPr>
          <p:cNvPr id="16" name="s8-date-4">
            <a:extLst xmlns:a="http://schemas.openxmlformats.org/drawingml/2006/main">
              <a:ext uri="{FF2B5EF4-FFF2-40B4-BE49-F238E27FC236}">
                <a16:creationId xmlns:a16="http://schemas.microsoft.com/office/drawing/2014/main" id="{ECCAD8C1-B771-4FCE-8C0F-9C2F781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14763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AUG 20–26</a:t>
            </a:r>
          </a:p>
        </p:txBody>
      </p:sp>
      <p:sp>
        <p:nvSpPr>
          <p:cNvPr id="17" name="s8-task-4">
            <a:extLst xmlns:a="http://schemas.openxmlformats.org/drawingml/2006/main">
              <a:ext uri="{FF2B5EF4-FFF2-40B4-BE49-F238E27FC236}">
                <a16:creationId xmlns:a16="http://schemas.microsoft.com/office/drawing/2014/main" id="{26C5691E-1E66-4B9E-8423-AA761134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67225"/>
            <a:ext cx="781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Write Results, Conclusion and Discussion</a:t>
            </a:r>
          </a:p>
        </p:txBody>
      </p:sp>
      <p:sp>
        <p:nvSpPr>
          <p:cNvPr id="18" name="s8-date-5">
            <a:extLst xmlns:a="http://schemas.openxmlformats.org/drawingml/2006/main">
              <a:ext uri="{FF2B5EF4-FFF2-40B4-BE49-F238E27FC236}">
                <a16:creationId xmlns:a16="http://schemas.microsoft.com/office/drawing/2014/main" id="{F04A8902-9B68-4D15-B4BC-101026FC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14763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AUG 27–28</a:t>
            </a:r>
          </a:p>
        </p:txBody>
      </p:sp>
      <p:sp>
        <p:nvSpPr>
          <p:cNvPr id="19" name="s8-task-5">
            <a:extLst xmlns:a="http://schemas.openxmlformats.org/drawingml/2006/main">
              <a:ext uri="{FF2B5EF4-FFF2-40B4-BE49-F238E27FC236}">
                <a16:creationId xmlns:a16="http://schemas.microsoft.com/office/drawing/2014/main" id="{E67F18C2-B924-4DF5-AAA7-EA18A05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57775"/>
            <a:ext cx="781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Proofread, format and final submission</a:t>
            </a:r>
          </a:p>
        </p:txBody>
      </p:sp>
      <p:sp>
        <p:nvSpPr>
          <p:cNvPr id="20" name="s8-note">
            <a:extLst xmlns:a="http://schemas.openxmlformats.org/drawingml/2006/main">
              <a:ext uri="{FF2B5EF4-FFF2-40B4-BE49-F238E27FC236}">
                <a16:creationId xmlns:a16="http://schemas.microsoft.com/office/drawing/2014/main" id="{BCC46063-24AC-481D-BFBF-B842219B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Schedule basis: working days only</a:t>
            </a:r>
          </a:p>
        </p:txBody>
      </p:sp>
      <p:sp>
        <p:nvSpPr>
          <p:cNvPr id="21" name="footer-8">
            <a:extLst xmlns:a="http://schemas.openxmlformats.org/drawingml/2006/main">
              <a:ext uri="{FF2B5EF4-FFF2-40B4-BE49-F238E27FC236}">
                <a16:creationId xmlns:a16="http://schemas.microsoft.com/office/drawing/2014/main" id="{5210E83E-FA28-4968-B3B7-A1855819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5789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2026-07-15T23:12:18.7320000Z</dcterms:created>
  <dcterms:modified xsi:type="dcterms:W3CDTF">2026-07-15T23:12:18.7320000Z</dcterms:modified>
</coreProperties>
</file>