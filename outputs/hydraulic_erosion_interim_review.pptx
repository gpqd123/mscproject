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6291b2afd4c96" /><Relationship Type="http://schemas.openxmlformats.org/officeDocument/2006/relationships/extended-properties" Target="/docProps/app.xml" Id="Rc94713e4707c43c7" /><Relationship Type="http://schemas.openxmlformats.org/officeDocument/2006/relationships/officeDocument" Target="/ppt/presentation.xml" Id="Rf17ce2bdadbc4a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8c93f346e24760"/>
  </p:sldMasterIdLst>
  <p:notesMasterIdLst>
    <p:notesMasterId xmlns:r="http://schemas.openxmlformats.org/officeDocument/2006/relationships" r:id="R8cd2f889396e4721"/>
  </p:notesMasterIdLst>
  <p:sldIdLst>
    <p:sldId xmlns:r="http://schemas.openxmlformats.org/officeDocument/2006/relationships" id="256" r:id="R04cbde3ce9a14f60"/>
    <p:sldId xmlns:r="http://schemas.openxmlformats.org/officeDocument/2006/relationships" id="257" r:id="Rf690a38458124ac3"/>
    <p:sldId xmlns:r="http://schemas.openxmlformats.org/officeDocument/2006/relationships" id="258" r:id="R6f87dc9c89184c0c"/>
    <p:sldId xmlns:r="http://schemas.openxmlformats.org/officeDocument/2006/relationships" id="259" r:id="R4a43ce3089be47f5"/>
    <p:sldId xmlns:r="http://schemas.openxmlformats.org/officeDocument/2006/relationships" id="260" r:id="R87e548b3e81a4f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af24dc38654682" /><Relationship Type="http://schemas.openxmlformats.org/officeDocument/2006/relationships/slideMaster" Target="/ppt/slideMasters/slideMaster1.xml" Id="Rb78c93f346e24760" /><Relationship Type="http://schemas.openxmlformats.org/officeDocument/2006/relationships/notesMaster" Target="/ppt/notesMasters/notesMaster1.xml" Id="R8cd2f889396e4721" /><Relationship Type="http://schemas.openxmlformats.org/officeDocument/2006/relationships/presProps" Target="/ppt/presProps.xml" Id="Ra48e1d8787794724" /><Relationship Type="http://schemas.openxmlformats.org/officeDocument/2006/relationships/tableStyles" Target="/ppt/tableStyles.xml" Id="R70473367383e4038" /><Relationship Type="http://schemas.openxmlformats.org/officeDocument/2006/relationships/slide" Target="/ppt/slides/slide1.xml" Id="R04cbde3ce9a14f60" /><Relationship Type="http://schemas.openxmlformats.org/officeDocument/2006/relationships/slide" Target="/ppt/slides/slide2.xml" Id="Rf690a38458124ac3" /><Relationship Type="http://schemas.openxmlformats.org/officeDocument/2006/relationships/slide" Target="/ppt/slides/slide3.xml" Id="R6f87dc9c89184c0c" /><Relationship Type="http://schemas.openxmlformats.org/officeDocument/2006/relationships/slide" Target="/ppt/slides/slide4.xml" Id="R4a43ce3089be47f5" /><Relationship Type="http://schemas.openxmlformats.org/officeDocument/2006/relationships/slide" Target="/ppt/slides/slide5.xml" Id="R87e548b3e81a4f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ab807ef47841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7f3c05f724995" /><Relationship Type="http://schemas.openxmlformats.org/officeDocument/2006/relationships/notesMaster" Target="/ppt/notesMasters/notesMaster1.xml" Id="Re16088c764e94f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a441b5b25b4442" /><Relationship Type="http://schemas.openxmlformats.org/officeDocument/2006/relationships/notesMaster" Target="/ppt/notesMasters/notesMaster1.xml" Id="R09bae35b3dbd4e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0e048b3fd34e7b" /><Relationship Type="http://schemas.openxmlformats.org/officeDocument/2006/relationships/notesMaster" Target="/ppt/notesMasters/notesMaster1.xml" Id="R8b56181d788a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266ec3c78d455c" /><Relationship Type="http://schemas.openxmlformats.org/officeDocument/2006/relationships/notesMaster" Target="/ppt/notesMasters/notesMaster1.xml" Id="R813e85f4b86947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66e74d6fe64bc2" /><Relationship Type="http://schemas.openxmlformats.org/officeDocument/2006/relationships/notesMaster" Target="/ppt/notesMasters/notesMaster1.xml" Id="Rfaf29b765ad8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2ac917b2344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478a85afc645e3" /><Relationship Type="http://schemas.openxmlformats.org/officeDocument/2006/relationships/slideLayout" Target="/ppt/slideLayouts/slideLayout1.xml" Id="Rd1ce76072fc549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ce76072fc549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61a3fece844fd" /><Relationship Type="http://schemas.openxmlformats.org/officeDocument/2006/relationships/notesSlide" Target="/ppt/notesSlides/notesSlide1.xml" Id="Rb00e0927d74540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2d01ef8794216" /><Relationship Type="http://schemas.openxmlformats.org/officeDocument/2006/relationships/notesSlide" Target="/ppt/notesSlides/notesSlide2.xml" Id="R9f2cf73c809c4c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d68ee1dc14635" /><Relationship Type="http://schemas.openxmlformats.org/officeDocument/2006/relationships/notesSlide" Target="/ppt/notesSlides/notesSlide3.xml" Id="R8ac028202b5f49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28afc9ca64648" /><Relationship Type="http://schemas.openxmlformats.org/officeDocument/2006/relationships/notesSlide" Target="/ppt/notesSlides/notesSlide4.xml" Id="R22ff3679f8bd4a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8c6ebf03d4f58" /><Relationship Type="http://schemas.openxmlformats.org/officeDocument/2006/relationships/notesSlide" Target="/ppt/notesSlides/notesSlide5.xml" Id="R932267b9e1fa4f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66784E9-2AF4-4747-89F4-CBF510B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A2C29E0A-DDC0-462B-9222-130FF3D2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INTERIM PROJECT REVIEW · JULY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FD44F6-CDCB-4C60-9CE9-AE55BE7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91440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Real-Time Hydraulic
Erosion Simulator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6060AD6-D069-400E-AD3E-607630B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14900"/>
            <a:ext cx="762000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 Vulkan prototype that makes terrain change visibly, one water droplet at a time</a:t>
            </a:r>
          </a:p>
        </p:txBody>
      </p:sp>
    </p:spTree>
    <p:extLst>
      <p:ext uri="{BB962C8B-B14F-4D97-AF65-F5344CB8AC3E}">
        <p14:creationId xmlns:p14="http://schemas.microsoft.com/office/powerpoint/2010/main" val="841319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ystem-title">
            <a:extLst xmlns:a="http://schemas.openxmlformats.org/drawingml/2006/main">
              <a:ext uri="{FF2B5EF4-FFF2-40B4-BE49-F238E27FC236}">
                <a16:creationId xmlns:a16="http://schemas.microsoft.com/office/drawing/2014/main" id="{64CFAEA4-5003-494A-AB96-CBC14CBB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static height map becomes a changing 3D landscape</a:t>
            </a:r>
          </a:p>
        </p:txBody>
      </p:sp>
      <p:sp>
        <p:nvSpPr>
          <p:cNvPr id="2" name="system-01">
            <a:extLst xmlns:a="http://schemas.openxmlformats.org/drawingml/2006/main">
              <a:ext uri="{FF2B5EF4-FFF2-40B4-BE49-F238E27FC236}">
                <a16:creationId xmlns:a16="http://schemas.microsoft.com/office/drawing/2014/main" id="{8E7D4AE6-4E3B-45E6-BCC5-C5D25F49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3" name="system-title-01">
            <a:extLst xmlns:a="http://schemas.openxmlformats.org/drawingml/2006/main">
              <a:ext uri="{FF2B5EF4-FFF2-40B4-BE49-F238E27FC236}">
                <a16:creationId xmlns:a16="http://schemas.microsoft.com/office/drawing/2014/main" id="{0EB22195-41AB-40A5-BFEE-1BF9E61D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Terrain is data</a:t>
            </a:r>
          </a:p>
        </p:txBody>
      </p:sp>
      <p:sp>
        <p:nvSpPr>
          <p:cNvPr id="4" name="system-body-01">
            <a:extLst xmlns:a="http://schemas.openxmlformats.org/drawingml/2006/main">
              <a:ext uri="{FF2B5EF4-FFF2-40B4-BE49-F238E27FC236}">
                <a16:creationId xmlns:a16="http://schemas.microsoft.com/office/drawing/2014/main" id="{5AFF9F53-5E35-4D1C-9B05-15148FBD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717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A 128 × 128 height grid comes from a PGM image or a procedural mountain.</a:t>
            </a:r>
          </a:p>
        </p:txBody>
      </p:sp>
      <p:sp>
        <p:nvSpPr>
          <p:cNvPr id="5" name="system-02">
            <a:extLst xmlns:a="http://schemas.openxmlformats.org/drawingml/2006/main">
              <a:ext uri="{FF2B5EF4-FFF2-40B4-BE49-F238E27FC236}">
                <a16:creationId xmlns:a16="http://schemas.microsoft.com/office/drawing/2014/main" id="{235F559F-D481-4014-A0FC-271A3639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system-title-02">
            <a:extLst xmlns:a="http://schemas.openxmlformats.org/drawingml/2006/main">
              <a:ext uri="{FF2B5EF4-FFF2-40B4-BE49-F238E27FC236}">
                <a16:creationId xmlns:a16="http://schemas.microsoft.com/office/drawing/2014/main" id="{1E50592E-78FF-49E3-AC27-BF62C55B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Droplets are agents</a:t>
            </a:r>
          </a:p>
        </p:txBody>
      </p:sp>
      <p:sp>
        <p:nvSpPr>
          <p:cNvPr id="7" name="system-body-02">
            <a:extLst xmlns:a="http://schemas.openxmlformats.org/drawingml/2006/main">
              <a:ext uri="{FF2B5EF4-FFF2-40B4-BE49-F238E27FC236}">
                <a16:creationId xmlns:a16="http://schemas.microsoft.com/office/drawing/2014/main" id="{45EC1951-8C84-4431-8EDE-8DDCDDB1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Each droplet stores position, speed, water and carried sediment.</a:t>
            </a:r>
          </a:p>
        </p:txBody>
      </p:sp>
      <p:sp>
        <p:nvSpPr>
          <p:cNvPr id="8" name="system-03">
            <a:extLst xmlns:a="http://schemas.openxmlformats.org/drawingml/2006/main">
              <a:ext uri="{FF2B5EF4-FFF2-40B4-BE49-F238E27FC236}">
                <a16:creationId xmlns:a16="http://schemas.microsoft.com/office/drawing/2014/main" id="{F6F5C198-46E9-4DAB-AEDF-86B57C3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9" name="system-title-03">
            <a:extLst xmlns:a="http://schemas.openxmlformats.org/drawingml/2006/main">
              <a:ext uri="{FF2B5EF4-FFF2-40B4-BE49-F238E27FC236}">
                <a16:creationId xmlns:a16="http://schemas.microsoft.com/office/drawing/2014/main" id="{542DE287-4858-4408-93A6-BB299718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148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Capacity drives change</a:t>
            </a:r>
          </a:p>
        </p:txBody>
      </p:sp>
      <p:sp>
        <p:nvSpPr>
          <p:cNvPr id="10" name="system-body-03">
            <a:extLst xmlns:a="http://schemas.openxmlformats.org/drawingml/2006/main">
              <a:ext uri="{FF2B5EF4-FFF2-40B4-BE49-F238E27FC236}">
                <a16:creationId xmlns:a16="http://schemas.microsoft.com/office/drawing/2014/main" id="{9425DA85-4D1C-4D50-BD6D-C396B75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Under capacity: erode. Over capacity: deposit. Water evaporates over time.</a:t>
            </a:r>
          </a:p>
        </p:txBody>
      </p:sp>
      <p:sp>
        <p:nvSpPr>
          <p:cNvPr id="11" name="system-04">
            <a:extLst xmlns:a="http://schemas.openxmlformats.org/drawingml/2006/main">
              <a:ext uri="{FF2B5EF4-FFF2-40B4-BE49-F238E27FC236}">
                <a16:creationId xmlns:a16="http://schemas.microsoft.com/office/drawing/2014/main" id="{8EA17532-356B-4D68-9EE5-D6B36CC6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52900"/>
            <a:ext cx="514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2" name="system-title-04">
            <a:extLst xmlns:a="http://schemas.openxmlformats.org/drawingml/2006/main">
              <a:ext uri="{FF2B5EF4-FFF2-40B4-BE49-F238E27FC236}">
                <a16:creationId xmlns:a16="http://schemas.microsoft.com/office/drawing/2014/main" id="{60067F02-4B8C-4DDF-B372-DA705633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Vulkan shows the result</a:t>
            </a:r>
          </a:p>
        </p:txBody>
      </p:sp>
      <p:sp>
        <p:nvSpPr>
          <p:cNvPr id="13" name="system-body-04">
            <a:extLst xmlns:a="http://schemas.openxmlformats.org/drawingml/2006/main">
              <a:ext uri="{FF2B5EF4-FFF2-40B4-BE49-F238E27FC236}">
                <a16:creationId xmlns:a16="http://schemas.microsoft.com/office/drawing/2014/main" id="{F4BEB12E-882C-4F9B-8841-09964E22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863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The CPU updates terrain heights; the GPU redraws the mesh and visible droplets.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D595587D-46FF-4202-80D4-D054D16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9606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rogress-title">
            <a:extLst xmlns:a="http://schemas.openxmlformats.org/drawingml/2006/main">
              <a:ext uri="{FF2B5EF4-FFF2-40B4-BE49-F238E27FC236}">
                <a16:creationId xmlns:a16="http://schemas.microsoft.com/office/drawing/2014/main" id="{B9C905F0-D3EE-4EC7-90B0-DEF3A9E2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Phases 1–5 now form a complete end-to-end prototype</a:t>
            </a:r>
          </a:p>
        </p:txBody>
      </p:sp>
      <p:sp>
        <p:nvSpPr>
          <p:cNvPr id="2" name="progress-summary">
            <a:extLst xmlns:a="http://schemas.openxmlformats.org/drawingml/2006/main">
              <a:ext uri="{FF2B5EF4-FFF2-40B4-BE49-F238E27FC236}">
                <a16:creationId xmlns:a16="http://schemas.microsoft.com/office/drawing/2014/main" id="{1FAEEC69-0C3F-405C-8B9B-02A98E9A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5334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current build can load or generate terrain, animate water droplets and deform the 3D mesh in real time.</a:t>
            </a:r>
          </a:p>
        </p:txBody>
      </p:sp>
      <p:sp>
        <p:nvSpPr>
          <p:cNvPr id="3" name="progress-callout">
            <a:extLst xmlns:a="http://schemas.openxmlformats.org/drawingml/2006/main">
              <a:ext uri="{FF2B5EF4-FFF2-40B4-BE49-F238E27FC236}">
                <a16:creationId xmlns:a16="http://schemas.microsoft.com/office/drawing/2014/main" id="{7DF18CBE-9E14-414E-BDD0-8F219761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143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callout-title">
            <a:extLst xmlns:a="http://schemas.openxmlformats.org/drawingml/2006/main">
              <a:ext uri="{FF2B5EF4-FFF2-40B4-BE49-F238E27FC236}">
                <a16:creationId xmlns:a16="http://schemas.microsoft.com/office/drawing/2014/main" id="{4FDEB5C0-A366-459A-9725-98A478E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476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Phase 6 has started early</a:t>
            </a:r>
          </a:p>
        </p:txBody>
      </p:sp>
      <p:sp>
        <p:nvSpPr>
          <p:cNvPr id="5" name="progress-callout-body">
            <a:extLst xmlns:a="http://schemas.openxmlformats.org/drawingml/2006/main">
              <a:ext uri="{FF2B5EF4-FFF2-40B4-BE49-F238E27FC236}">
                <a16:creationId xmlns:a16="http://schemas.microsoft.com/office/drawing/2014/main" id="{F3D84D95-67B1-40B3-BAD5-5D7A4C52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4767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Live controls, pause/resume and 0.25×–8× simulation speed are already available.</a:t>
            </a:r>
          </a:p>
        </p:txBody>
      </p:sp>
      <p:sp>
        <p:nvSpPr>
          <p:cNvPr id="6" name="check-circle-1">
            <a:extLst xmlns:a="http://schemas.openxmlformats.org/drawingml/2006/main">
              <a:ext uri="{FF2B5EF4-FFF2-40B4-BE49-F238E27FC236}">
                <a16:creationId xmlns:a16="http://schemas.microsoft.com/office/drawing/2014/main" id="{D79B3E3B-A135-4CF6-96E9-9C7F7E9A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38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check-1">
            <a:extLst xmlns:a="http://schemas.openxmlformats.org/drawingml/2006/main">
              <a:ext uri="{FF2B5EF4-FFF2-40B4-BE49-F238E27FC236}">
                <a16:creationId xmlns:a16="http://schemas.microsoft.com/office/drawing/2014/main" id="{AF543FB7-D152-4319-A01C-8CBFA763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8192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8" name="check-text-1">
            <a:extLst xmlns:a="http://schemas.openxmlformats.org/drawingml/2006/main">
              <a:ext uri="{FF2B5EF4-FFF2-40B4-BE49-F238E27FC236}">
                <a16:creationId xmlns:a16="http://schemas.microsoft.com/office/drawing/2014/main" id="{67C46C9C-6227-4345-B0BD-E9801DF8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097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 1 · Research and Vulkan pipeline</a:t>
            </a:r>
          </a:p>
        </p:txBody>
      </p:sp>
      <p:sp>
        <p:nvSpPr>
          <p:cNvPr id="9" name="check-circle-2">
            <a:extLst xmlns:a="http://schemas.openxmlformats.org/drawingml/2006/main">
              <a:ext uri="{FF2B5EF4-FFF2-40B4-BE49-F238E27FC236}">
                <a16:creationId xmlns:a16="http://schemas.microsoft.com/office/drawing/2014/main" id="{D40CADA4-D8F1-4907-AE2B-C4CA5EBB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812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check-2">
            <a:extLst xmlns:a="http://schemas.openxmlformats.org/drawingml/2006/main">
              <a:ext uri="{FF2B5EF4-FFF2-40B4-BE49-F238E27FC236}">
                <a16:creationId xmlns:a16="http://schemas.microsoft.com/office/drawing/2014/main" id="{60794E3B-81AA-49D3-A43E-F4232EF4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56222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1" name="check-text-2">
            <a:extLst xmlns:a="http://schemas.openxmlformats.org/drawingml/2006/main">
              <a:ext uri="{FF2B5EF4-FFF2-40B4-BE49-F238E27FC236}">
                <a16:creationId xmlns:a16="http://schemas.microsoft.com/office/drawing/2014/main" id="{769751CF-2630-4608-BA9A-12D38E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 2 · Height-map input and terrain mesh</a:t>
            </a:r>
          </a:p>
        </p:txBody>
      </p:sp>
      <p:sp>
        <p:nvSpPr>
          <p:cNvPr id="12" name="check-circle-3">
            <a:extLst xmlns:a="http://schemas.openxmlformats.org/drawingml/2006/main">
              <a:ext uri="{FF2B5EF4-FFF2-40B4-BE49-F238E27FC236}">
                <a16:creationId xmlns:a16="http://schemas.microsoft.com/office/drawing/2014/main" id="{24636C68-59F4-49C2-A282-431F5BE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242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check-3">
            <a:extLst xmlns:a="http://schemas.openxmlformats.org/drawingml/2006/main">
              <a:ext uri="{FF2B5EF4-FFF2-40B4-BE49-F238E27FC236}">
                <a16:creationId xmlns:a16="http://schemas.microsoft.com/office/drawing/2014/main" id="{686A5015-A9FB-4EEC-B807-CB39AB8B2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051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4" name="check-text-3">
            <a:extLst xmlns:a="http://schemas.openxmlformats.org/drawingml/2006/main">
              <a:ext uri="{FF2B5EF4-FFF2-40B4-BE49-F238E27FC236}">
                <a16:creationId xmlns:a16="http://schemas.microsoft.com/office/drawing/2014/main" id="{988229AB-5C57-44FC-A7FD-93C9FB7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956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841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 3 · Downhill droplet physics and debugging</a:t>
            </a:r>
          </a:p>
        </p:txBody>
      </p:sp>
      <p:sp>
        <p:nvSpPr>
          <p:cNvPr id="15" name="check-circle-4">
            <a:extLst xmlns:a="http://schemas.openxmlformats.org/drawingml/2006/main">
              <a:ext uri="{FF2B5EF4-FFF2-40B4-BE49-F238E27FC236}">
                <a16:creationId xmlns:a16="http://schemas.microsoft.com/office/drawing/2014/main" id="{66A67FBB-6F74-46DE-9132-8D4ED97C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67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6" name="check-4">
            <a:extLst xmlns:a="http://schemas.openxmlformats.org/drawingml/2006/main">
              <a:ext uri="{FF2B5EF4-FFF2-40B4-BE49-F238E27FC236}">
                <a16:creationId xmlns:a16="http://schemas.microsoft.com/office/drawing/2014/main" id="{1B1D4732-EABF-454C-B41B-C827D96D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4812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7" name="check-text-4">
            <a:extLst xmlns:a="http://schemas.openxmlformats.org/drawingml/2006/main">
              <a:ext uri="{FF2B5EF4-FFF2-40B4-BE49-F238E27FC236}">
                <a16:creationId xmlns:a16="http://schemas.microsoft.com/office/drawing/2014/main" id="{2FC14F18-DE75-4A6F-B850-E7B6AA5B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 4 · Erosion, transport and deposition</a:t>
            </a:r>
          </a:p>
        </p:txBody>
      </p:sp>
      <p:sp>
        <p:nvSpPr>
          <p:cNvPr id="18" name="check-circle-5">
            <a:extLst xmlns:a="http://schemas.openxmlformats.org/drawingml/2006/main">
              <a:ext uri="{FF2B5EF4-FFF2-40B4-BE49-F238E27FC236}">
                <a16:creationId xmlns:a16="http://schemas.microsoft.com/office/drawing/2014/main" id="{61C1A183-03D6-4559-9254-A01A6FE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10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check-5">
            <a:extLst xmlns:a="http://schemas.openxmlformats.org/drawingml/2006/main">
              <a:ext uri="{FF2B5EF4-FFF2-40B4-BE49-F238E27FC236}">
                <a16:creationId xmlns:a16="http://schemas.microsoft.com/office/drawing/2014/main" id="{A4A78962-D01E-40F9-9383-460193B2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791075"/>
            <a:ext cx="257175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20" name="check-text-5">
            <a:extLst xmlns:a="http://schemas.openxmlformats.org/drawingml/2006/main">
              <a:ext uri="{FF2B5EF4-FFF2-40B4-BE49-F238E27FC236}">
                <a16:creationId xmlns:a16="http://schemas.microsoft.com/office/drawing/2014/main" id="{BECB2D20-5071-4EE9-B59F-208C8ED5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81550"/>
            <a:ext cx="4457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67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Phase 5 · Validation and mass-conservation tests</a:t>
            </a:r>
          </a:p>
        </p:txBody>
      </p:sp>
      <p:sp>
        <p:nvSpPr>
          <p:cNvPr id="21" name="page-3">
            <a:extLst xmlns:a="http://schemas.openxmlformats.org/drawingml/2006/main">
              <a:ext uri="{FF2B5EF4-FFF2-40B4-BE49-F238E27FC236}">
                <a16:creationId xmlns:a16="http://schemas.microsoft.com/office/drawing/2014/main" id="{F42C6B3A-4554-4111-A33E-E38073D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236242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oncept-title">
            <a:extLst xmlns:a="http://schemas.openxmlformats.org/drawingml/2006/main">
              <a:ext uri="{FF2B5EF4-FFF2-40B4-BE49-F238E27FC236}">
                <a16:creationId xmlns:a16="http://schemas.microsoft.com/office/drawing/2014/main" id="{E47E1E8D-E7A0-4B9E-B98E-DCC00D0F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 droplet behaves like a small truck carrying sediment</a:t>
            </a:r>
          </a:p>
        </p:txBody>
      </p:sp>
      <p:sp>
        <p:nvSpPr>
          <p:cNvPr id="2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AAEC2B53-2BED-4D18-BB92-A1AE582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581150"/>
            <a:ext cx="883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rmula">
            <a:extLst xmlns:a="http://schemas.openxmlformats.org/drawingml/2006/main">
              <a:ext uri="{FF2B5EF4-FFF2-40B4-BE49-F238E27FC236}">
                <a16:creationId xmlns:a16="http://schemas.microsoft.com/office/drawing/2014/main" id="{5C1052E8-64A0-486F-92B3-86F6E211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790700"/>
            <a:ext cx="826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Capacity ≈ slope drop × speed × water × capacity factor</a:t>
            </a:r>
          </a:p>
        </p:txBody>
      </p:sp>
      <p:cxnSp>
        <p:nvCxnSpPr>
          <p:cNvPr id="21" name="concept-line"/>
          <p:cNvCxnSpPr/>
          <p:nvPr/>
        </p:nvCxnSpPr>
        <p:spPr>
          <a:xfrm xmlns:a="http://schemas.openxmlformats.org/drawingml/2006/main">
            <a:off x="876300" y="3505200"/>
            <a:ext cx="10439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5" name="concept-node-1">
            <a:extLst xmlns:a="http://schemas.openxmlformats.org/drawingml/2006/main">
              <a:ext uri="{FF2B5EF4-FFF2-40B4-BE49-F238E27FC236}">
                <a16:creationId xmlns:a16="http://schemas.microsoft.com/office/drawing/2014/main" id="{4B7BF5D8-1001-40EE-95B0-4C0DF99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" name="concept-label-1">
            <a:extLst xmlns:a="http://schemas.openxmlformats.org/drawingml/2006/main">
              <a:ext uri="{FF2B5EF4-FFF2-40B4-BE49-F238E27FC236}">
                <a16:creationId xmlns:a16="http://schemas.microsoft.com/office/drawing/2014/main" id="{0B47DED8-319F-4FDA-BD39-AE47000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CAPACITY</a:t>
            </a:r>
          </a:p>
        </p:txBody>
      </p:sp>
      <p:sp>
        <p:nvSpPr>
          <p:cNvPr id="7" name="concept-heading-1">
            <a:extLst xmlns:a="http://schemas.openxmlformats.org/drawingml/2006/main">
              <a:ext uri="{FF2B5EF4-FFF2-40B4-BE49-F238E27FC236}">
                <a16:creationId xmlns:a16="http://schemas.microsoft.com/office/drawing/2014/main" id="{3D5CC16F-8538-4555-95D8-F7832870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Steep + fast + wet</a:t>
            </a:r>
          </a:p>
        </p:txBody>
      </p:sp>
      <p:sp>
        <p:nvSpPr>
          <p:cNvPr id="8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77E256BA-E575-49CD-9995-4DF0FE79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The droplet can carry more material.</a:t>
            </a:r>
          </a:p>
        </p:txBody>
      </p:sp>
      <p:sp>
        <p:nvSpPr>
          <p:cNvPr id="9" name="concept-node-2">
            <a:extLst xmlns:a="http://schemas.openxmlformats.org/drawingml/2006/main">
              <a:ext uri="{FF2B5EF4-FFF2-40B4-BE49-F238E27FC236}">
                <a16:creationId xmlns:a16="http://schemas.microsoft.com/office/drawing/2014/main" id="{261C7F2F-7B51-4C9C-811D-72226EA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concept-label-2">
            <a:extLst xmlns:a="http://schemas.openxmlformats.org/drawingml/2006/main">
              <a:ext uri="{FF2B5EF4-FFF2-40B4-BE49-F238E27FC236}">
                <a16:creationId xmlns:a16="http://schemas.microsoft.com/office/drawing/2014/main" id="{5D3AAC69-5B9D-4405-B611-C70715AE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EROSION</a:t>
            </a:r>
          </a:p>
        </p:txBody>
      </p:sp>
      <p:sp>
        <p:nvSpPr>
          <p:cNvPr id="11" name="concept-heading-2">
            <a:extLst xmlns:a="http://schemas.openxmlformats.org/drawingml/2006/main">
              <a:ext uri="{FF2B5EF4-FFF2-40B4-BE49-F238E27FC236}">
                <a16:creationId xmlns:a16="http://schemas.microsoft.com/office/drawing/2014/main" id="{8FBFBBD7-6DEB-4C6F-A5FA-C62A7232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Load &lt; capacity</a:t>
            </a:r>
          </a:p>
        </p:txBody>
      </p:sp>
      <p:sp>
        <p:nvSpPr>
          <p:cNvPr id="12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EE8797B1-1ED1-44BA-80F7-67D5FAED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It removes soil and carries it downhill.</a:t>
            </a:r>
          </a:p>
        </p:txBody>
      </p:sp>
      <p:sp>
        <p:nvSpPr>
          <p:cNvPr id="13" name="concept-node-3">
            <a:extLst xmlns:a="http://schemas.openxmlformats.org/drawingml/2006/main">
              <a:ext uri="{FF2B5EF4-FFF2-40B4-BE49-F238E27FC236}">
                <a16:creationId xmlns:a16="http://schemas.microsoft.com/office/drawing/2014/main" id="{651932A2-E7BC-4547-B269-39F832EB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concept-label-3">
            <a:extLst xmlns:a="http://schemas.openxmlformats.org/drawingml/2006/main">
              <a:ext uri="{FF2B5EF4-FFF2-40B4-BE49-F238E27FC236}">
                <a16:creationId xmlns:a16="http://schemas.microsoft.com/office/drawing/2014/main" id="{F9D05764-C305-460D-BC96-FF92252B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95600"/>
            <a:ext cx="2000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DEPOSITION</a:t>
            </a:r>
          </a:p>
        </p:txBody>
      </p:sp>
      <p:sp>
        <p:nvSpPr>
          <p:cNvPr id="15" name="concept-heading-3">
            <a:extLst xmlns:a="http://schemas.openxmlformats.org/drawingml/2006/main">
              <a:ext uri="{FF2B5EF4-FFF2-40B4-BE49-F238E27FC236}">
                <a16:creationId xmlns:a16="http://schemas.microsoft.com/office/drawing/2014/main" id="{84AAEA1C-1425-4C70-A558-989E635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24300"/>
            <a:ext cx="285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Load &gt; capacity</a:t>
            </a:r>
          </a:p>
        </p:txBody>
      </p:sp>
      <p:sp>
        <p:nvSpPr>
          <p:cNvPr id="16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C2240973-E918-4728-BE97-759C8E4C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57700"/>
            <a:ext cx="2857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It releases soil on gentler ground, then evaporates.</a:t>
            </a:r>
          </a:p>
        </p:txBody>
      </p:sp>
      <p:sp>
        <p:nvSpPr>
          <p:cNvPr id="17" name="page-4">
            <a:extLst xmlns:a="http://schemas.openxmlformats.org/drawingml/2006/main">
              <a:ext uri="{FF2B5EF4-FFF2-40B4-BE49-F238E27FC236}">
                <a16:creationId xmlns:a16="http://schemas.microsoft.com/office/drawing/2014/main" id="{C5995C9A-B374-4FDF-BA12-EA82F7CC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6167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chedule-title">
            <a:extLst xmlns:a="http://schemas.openxmlformats.org/drawingml/2006/main">
              <a:ext uri="{FF2B5EF4-FFF2-40B4-BE49-F238E27FC236}">
                <a16:creationId xmlns:a16="http://schemas.microsoft.com/office/drawing/2014/main" id="{45DCF268-02D8-4A06-964E-144F6C85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1950"/>
            <a:ext cx="11049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Next: tune, benchmark and document the simulator</a:t>
            </a:r>
          </a:p>
        </p:txBody>
      </p:sp>
      <p:graphicFrame>
        <p:nvGraphicFramePr>
          <p:cNvPr id="18" name="schedule-grid"/>
          <p:cNvGraphicFramePr/>
          <p:nvPr/>
        </p:nvGraphicFramePr>
        <p:xfrm>
          <a:off xmlns:a="http://schemas.openxmlformats.org/drawingml/2006/main" x="495300" y="1543050"/>
          <a:ext xmlns:a="http://schemas.openxmlformats.org/drawingml/2006/main" cx="112014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4171950">
                <a:tc>
                  <a:txBody>
                    <a:bodyPr/>
                    <a:lstStyle/>
                    <a:p>
                      <a:r>
                        <a:t>Jul 13–17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Jul 20–24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Jul 27–31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Aug 3–14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Aug 17–28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3" name="today-line">
            <a:extLst xmlns:a="http://schemas.openxmlformats.org/drawingml/2006/main">
              <a:ext uri="{FF2B5EF4-FFF2-40B4-BE49-F238E27FC236}">
                <a16:creationId xmlns:a16="http://schemas.microsoft.com/office/drawing/2014/main" id="{E4B8AB69-3F7A-43D6-B463-89D27DC4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1543050"/>
            <a:ext cx="28575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day-label">
            <a:extLst xmlns:a="http://schemas.openxmlformats.org/drawingml/2006/main">
              <a:ext uri="{FF2B5EF4-FFF2-40B4-BE49-F238E27FC236}">
                <a16:creationId xmlns:a16="http://schemas.microsoft.com/office/drawing/2014/main" id="{885296F6-73CF-4EF5-A823-70DF2B3B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530" y="1276350"/>
            <a:ext cx="800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TODAY</a:t>
            </a:r>
          </a:p>
        </p:txBody>
      </p:sp>
      <p:sp>
        <p:nvSpPr>
          <p:cNvPr id="5" name="schedule-bar-1">
            <a:extLst xmlns:a="http://schemas.openxmlformats.org/drawingml/2006/main">
              <a:ext uri="{FF2B5EF4-FFF2-40B4-BE49-F238E27FC236}">
                <a16:creationId xmlns:a16="http://schemas.microsoft.com/office/drawing/2014/main" id="{52FFC88C-7B21-4BC3-A17C-A70A1C3D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429006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edule-text-1">
            <a:extLst xmlns:a="http://schemas.openxmlformats.org/drawingml/2006/main">
              <a:ext uri="{FF2B5EF4-FFF2-40B4-BE49-F238E27FC236}">
                <a16:creationId xmlns:a16="http://schemas.microsoft.com/office/drawing/2014/main" id="{75F33112-85E8-4C8C-A24A-59506678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398526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Finish physics tuning + GUI</a:t>
            </a:r>
          </a:p>
        </p:txBody>
      </p:sp>
      <p:sp>
        <p:nvSpPr>
          <p:cNvPr id="7" name="schedule-bar-2">
            <a:extLst xmlns:a="http://schemas.openxmlformats.org/drawingml/2006/main">
              <a:ext uri="{FF2B5EF4-FFF2-40B4-BE49-F238E27FC236}">
                <a16:creationId xmlns:a16="http://schemas.microsoft.com/office/drawing/2014/main" id="{2F328CF6-237D-4D15-9EC3-90B45573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3028950"/>
            <a:ext cx="201168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chedule-text-2">
            <a:extLst xmlns:a="http://schemas.openxmlformats.org/drawingml/2006/main">
              <a:ext uri="{FF2B5EF4-FFF2-40B4-BE49-F238E27FC236}">
                <a16:creationId xmlns:a16="http://schemas.microsoft.com/office/drawing/2014/main" id="{49C78402-4A19-455F-A1E3-09E55127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143250"/>
            <a:ext cx="170688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44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Presets + CPU profiling</a:t>
            </a:r>
          </a:p>
        </p:txBody>
      </p:sp>
      <p:sp>
        <p:nvSpPr>
          <p:cNvPr id="9" name="schedule-bar-3">
            <a:extLst xmlns:a="http://schemas.openxmlformats.org/drawingml/2006/main">
              <a:ext uri="{FF2B5EF4-FFF2-40B4-BE49-F238E27FC236}">
                <a16:creationId xmlns:a16="http://schemas.microsoft.com/office/drawing/2014/main" id="{91EA96AD-7ED2-4F6D-BF9C-3A988D14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3714750"/>
            <a:ext cx="3248406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hedule-text-3">
            <a:extLst xmlns:a="http://schemas.openxmlformats.org/drawingml/2006/main">
              <a:ext uri="{FF2B5EF4-FFF2-40B4-BE49-F238E27FC236}">
                <a16:creationId xmlns:a16="http://schemas.microsoft.com/office/drawing/2014/main" id="{7FB693F4-B237-444A-9D61-B25633D7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560" y="3829050"/>
            <a:ext cx="2943606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CPU vs GPU benchmark</a:t>
            </a:r>
          </a:p>
        </p:txBody>
      </p:sp>
      <p:sp>
        <p:nvSpPr>
          <p:cNvPr id="11" name="schedule-bar-4">
            <a:extLst xmlns:a="http://schemas.openxmlformats.org/drawingml/2006/main">
              <a:ext uri="{FF2B5EF4-FFF2-40B4-BE49-F238E27FC236}">
                <a16:creationId xmlns:a16="http://schemas.microsoft.com/office/drawing/2014/main" id="{C8E2FA89-484D-4EAF-A8D2-9D4B2FCD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2340" y="4400550"/>
            <a:ext cx="3696462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chedule-text-4">
            <a:extLst xmlns:a="http://schemas.openxmlformats.org/drawingml/2006/main">
              <a:ext uri="{FF2B5EF4-FFF2-40B4-BE49-F238E27FC236}">
                <a16:creationId xmlns:a16="http://schemas.microsoft.com/office/drawing/2014/main" id="{94D556C9-714F-4B02-80F9-600282EC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4514850"/>
            <a:ext cx="3391662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Paper: methods + results</a:t>
            </a:r>
          </a:p>
        </p:txBody>
      </p:sp>
      <p:sp>
        <p:nvSpPr>
          <p:cNvPr id="13" name="schedule-bar-5">
            <a:extLst xmlns:a="http://schemas.openxmlformats.org/drawingml/2006/main">
              <a:ext uri="{FF2B5EF4-FFF2-40B4-BE49-F238E27FC236}">
                <a16:creationId xmlns:a16="http://schemas.microsoft.com/office/drawing/2014/main" id="{116CE051-C8B7-4A8A-A63A-62E6F960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7870" y="5086350"/>
            <a:ext cx="189738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hedule-text-5">
            <a:extLst xmlns:a="http://schemas.openxmlformats.org/drawingml/2006/main">
              <a:ext uri="{FF2B5EF4-FFF2-40B4-BE49-F238E27FC236}">
                <a16:creationId xmlns:a16="http://schemas.microsoft.com/office/drawing/2014/main" id="{89BC575F-5998-441B-AE1C-70A5D0A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5200650"/>
            <a:ext cx="159258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Final review</a:t>
            </a:r>
          </a:p>
        </p:txBody>
      </p:sp>
      <p:sp>
        <p:nvSpPr>
          <p:cNvPr id="15" name="schedule-outcome">
            <a:extLst xmlns:a="http://schemas.openxmlformats.org/drawingml/2006/main">
              <a:ext uri="{FF2B5EF4-FFF2-40B4-BE49-F238E27FC236}">
                <a16:creationId xmlns:a16="http://schemas.microsoft.com/office/drawing/2014/main" id="{D4ABF362-BE7D-4272-B564-6D845DCD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Final outcome: a tuned simulator, measured performance and a complete report by 28 August 2026.</a:t>
            </a:r>
          </a:p>
        </p:txBody>
      </p:sp>
      <p:sp>
        <p:nvSpPr>
          <p:cNvPr id="16" name="page-5">
            <a:extLst xmlns:a="http://schemas.openxmlformats.org/drawingml/2006/main">
              <a:ext uri="{FF2B5EF4-FFF2-40B4-BE49-F238E27FC236}">
                <a16:creationId xmlns:a16="http://schemas.microsoft.com/office/drawing/2014/main" id="{F0631C2F-536A-47F3-BDE4-1A895000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7745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2026-07-17T01:34:32.3420000Z</dcterms:created>
  <dcterms:modified xsi:type="dcterms:W3CDTF">2026-07-17T01:34:32.3420000Z</dcterms:modified>
</coreProperties>
</file>